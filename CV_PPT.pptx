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1FF7790-A01F-82D4-224B-3255AB8CA160}">
          <p14:sldIdLst>
            <p14:sldId id="256"/>
          </p14:sldIdLst>
        </p14:section>
        <p14:section name="Background" id="{E2E0B39D-78E0-B91C-A87B-853B530C72F9}">
          <p14:sldIdLst>
            <p14:sldId id="257"/>
            <p14:sldId id="258"/>
            <p14:sldId id="259"/>
          </p14:sldIdLst>
        </p14:section>
        <p14:section name="Project Plan" id="{CD935B5E-1B8F-E4D0-90D3-FED49AB586A5}">
          <p14:sldIdLst>
            <p14:sldId id="260"/>
            <p14:sldId id="261"/>
          </p14:sldIdLst>
        </p14:section>
        <p14:section name="Method" id="{6540E23B-8A5E-CCF2-A4D0-60350C67B38E}">
          <p14:sldIdLst>
            <p14:sldId id="262"/>
            <p14:sldId id="263"/>
            <p14:sldId id="264"/>
            <p14:sldId id="265"/>
          </p14:sldIdLst>
        </p14:section>
        <p14:section name="Impact" id="{BD0E64C7-8EB2-70CC-7A60-1029EC521440}">
          <p14:sldIdLst>
            <p14:sldId id="266"/>
            <p14:sldId id="267"/>
            <p14:sldId id="268"/>
          </p14:sldIdLst>
        </p14:section>
        <p14:section name="Wrap-up" id="{E4BA0BDD-97CF-7614-2F2D-B8A9DEF4199C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walya Raut" userId="82c783428a7e92f5" providerId="LiveId" clId="{6B374A94-CB3C-4FF6-B82F-8C5C2F1F3C73}"/>
    <pc:docChg chg="modSld">
      <pc:chgData name="Kaiwalya Raut" userId="82c783428a7e92f5" providerId="LiveId" clId="{6B374A94-CB3C-4FF6-B82F-8C5C2F1F3C73}" dt="2026-10-29T09:40:31.963" v="134" actId="20577"/>
      <pc:docMkLst>
        <pc:docMk/>
      </pc:docMkLst>
      <pc:sldChg chg="modSp mod">
        <pc:chgData name="Kaiwalya Raut" userId="82c783428a7e92f5" providerId="LiveId" clId="{6B374A94-CB3C-4FF6-B82F-8C5C2F1F3C73}" dt="2026-10-29T09:40:31.963" v="134" actId="20577"/>
        <pc:sldMkLst>
          <pc:docMk/>
          <pc:sldMk cId="0" sldId="256"/>
        </pc:sldMkLst>
        <pc:spChg chg="mod">
          <ac:chgData name="Kaiwalya Raut" userId="82c783428a7e92f5" providerId="LiveId" clId="{6B374A94-CB3C-4FF6-B82F-8C5C2F1F3C73}" dt="2026-10-29T09:40:31.963" v="134" actId="20577"/>
          <ac:spMkLst>
            <pc:docMk/>
            <pc:sldMk cId="0" sldId="256"/>
            <ac:spMk id="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940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</a:rPr>
              <a:t>Pneumonia Detection from Chest X-Ray Images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6C6"/>
                </a:solidFill>
              </a:rPr>
              <a:t>Pneumonia Detection from Chest X-Ray Images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6C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234440"/>
            <a:ext cx="74980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keras.io/" TargetMode="External"/><Relationship Id="rId13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19.png"/><Relationship Id="rId12" Type="http://schemas.openxmlformats.org/officeDocument/2006/relationships/hyperlink" Target="https://scikit-learn.org/stable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ensorflow.org/" TargetMode="External"/><Relationship Id="rId11" Type="http://schemas.openxmlformats.org/officeDocument/2006/relationships/image" Target="../media/image24.png"/><Relationship Id="rId5" Type="http://schemas.openxmlformats.org/officeDocument/2006/relationships/image" Target="../media/image25.png"/><Relationship Id="rId10" Type="http://schemas.openxmlformats.org/officeDocument/2006/relationships/hyperlink" Target="https://keras.io/api/applications/mobilenet/" TargetMode="External"/><Relationship Id="rId4" Type="http://schemas.openxmlformats.org/officeDocument/2006/relationships/hyperlink" Target="https://www.kaggle.com/datasets/paultimothymooney/chest-xray-pneumonia" TargetMode="External"/><Relationship Id="rId9" Type="http://schemas.openxmlformats.org/officeDocument/2006/relationships/image" Target="../media/image4.png"/><Relationship Id="rId1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1"/>
          <p:cNvSpPr/>
          <p:nvPr/>
        </p:nvSpPr>
        <p:spPr>
          <a:xfrm>
            <a:off x="8503920" y="365760"/>
            <a:ext cx="3291840" cy="3291840"/>
          </a:xfrm>
          <a:prstGeom prst="ellipse">
            <a:avLst/>
          </a:prstGeom>
          <a:ln w="1587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3" name="ring-2"/>
          <p:cNvSpPr/>
          <p:nvPr/>
        </p:nvSpPr>
        <p:spPr>
          <a:xfrm>
            <a:off x="8942832" y="804672"/>
            <a:ext cx="2414016" cy="2414016"/>
          </a:xfrm>
          <a:prstGeom prst="ellipse">
            <a:avLst/>
          </a:prstGeom>
          <a:ln w="1587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4" name="ring-3"/>
          <p:cNvSpPr/>
          <p:nvPr/>
        </p:nvSpPr>
        <p:spPr>
          <a:xfrm>
            <a:off x="9381744" y="1243584"/>
            <a:ext cx="1536192" cy="1536192"/>
          </a:xfrm>
          <a:prstGeom prst="ellipse">
            <a:avLst/>
          </a:prstGeom>
          <a:ln w="1587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5" name="cover-disc"/>
          <p:cNvSpPr/>
          <p:nvPr/>
        </p:nvSpPr>
        <p:spPr>
          <a:xfrm>
            <a:off x="9418320" y="128016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over-icon" descr="Lu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48" y="1618488"/>
            <a:ext cx="786384" cy="786384"/>
          </a:xfrm>
          <a:prstGeom prst="rect">
            <a:avLst/>
          </a:prstGeom>
        </p:spPr>
      </p:pic>
      <p:sp>
        <p:nvSpPr>
          <p:cNvPr id="7" name="text-4"/>
          <p:cNvSpPr txBox="1"/>
          <p:nvPr/>
        </p:nvSpPr>
        <p:spPr>
          <a:xfrm>
            <a:off x="731520" y="7315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2"/>
                </a:solidFill>
              </a:rPr>
              <a:t>COMPUTER VISION MINI PROJECT PRESENTATION</a:t>
            </a:r>
            <a:endParaRPr lang="en-US" sz="1300" dirty="0"/>
          </a:p>
        </p:txBody>
      </p:sp>
      <p:sp>
        <p:nvSpPr>
          <p:cNvPr id="8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23444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Pneumonia Detection from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Chest X-Ray Images</a:t>
            </a:r>
            <a:endParaRPr lang="en-US" sz="4000" dirty="0"/>
          </a:p>
        </p:txBody>
      </p:sp>
      <p:sp>
        <p:nvSpPr>
          <p:cNvPr id="9" name="card-5"/>
          <p:cNvSpPr/>
          <p:nvPr/>
        </p:nvSpPr>
        <p:spPr>
          <a:xfrm>
            <a:off x="731520" y="3657600"/>
            <a:ext cx="10698480" cy="2468880"/>
          </a:xfrm>
          <a:prstGeom prst="roundRect">
            <a:avLst>
              <a:gd name="adj" fmla="val 4444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10" name="text-6"/>
          <p:cNvSpPr txBox="1"/>
          <p:nvPr/>
        </p:nvSpPr>
        <p:spPr>
          <a:xfrm>
            <a:off x="10972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SUBMITTED BY</a:t>
            </a:r>
            <a:endParaRPr lang="en-US" sz="1200" dirty="0"/>
          </a:p>
        </p:txBody>
      </p:sp>
      <p:sp>
        <p:nvSpPr>
          <p:cNvPr id="11" name="text-7"/>
          <p:cNvSpPr txBox="1"/>
          <p:nvPr/>
        </p:nvSpPr>
        <p:spPr>
          <a:xfrm>
            <a:off x="1089329" y="434340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1.  </a:t>
            </a:r>
            <a:r>
              <a:rPr lang="en-US" dirty="0">
                <a:solidFill>
                  <a:schemeClr val="bg1"/>
                </a:solidFill>
              </a:rPr>
              <a:t>Kaiwalya Raut - 20240802436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2. Om </a:t>
            </a:r>
            <a:r>
              <a:rPr lang="en-US" sz="1800" dirty="0" err="1">
                <a:solidFill>
                  <a:schemeClr val="bg1"/>
                </a:solidFill>
              </a:rPr>
              <a:t>Uplanchiwar</a:t>
            </a:r>
            <a:r>
              <a:rPr lang="en-US" sz="1800" dirty="0">
                <a:solidFill>
                  <a:schemeClr val="bg1"/>
                </a:solidFill>
              </a:rPr>
              <a:t> - 20240802412</a:t>
            </a:r>
            <a:endParaRPr lang="en-US" sz="18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3.  </a:t>
            </a:r>
            <a:r>
              <a:rPr lang="en-US">
                <a:solidFill>
                  <a:schemeClr val="bg1"/>
                </a:solidFill>
              </a:rPr>
              <a:t>Vedant Baria - 20240802415</a:t>
            </a:r>
            <a:endParaRPr lang="en-US" sz="1800" dirty="0"/>
          </a:p>
        </p:txBody>
      </p:sp>
      <p:sp>
        <p:nvSpPr>
          <p:cNvPr id="12" name="text-8"/>
          <p:cNvSpPr txBox="1"/>
          <p:nvPr/>
        </p:nvSpPr>
        <p:spPr>
          <a:xfrm>
            <a:off x="576072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DIVISION</a:t>
            </a:r>
            <a:endParaRPr lang="en-US" sz="1200" dirty="0"/>
          </a:p>
        </p:txBody>
      </p:sp>
      <p:sp>
        <p:nvSpPr>
          <p:cNvPr id="13" name="text-9"/>
          <p:cNvSpPr txBox="1"/>
          <p:nvPr/>
        </p:nvSpPr>
        <p:spPr>
          <a:xfrm>
            <a:off x="5760720" y="4279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 (B2)</a:t>
            </a:r>
            <a:endParaRPr lang="en-US" sz="1800" dirty="0"/>
          </a:p>
        </p:txBody>
      </p:sp>
      <p:sp>
        <p:nvSpPr>
          <p:cNvPr id="14" name="text-10"/>
          <p:cNvSpPr txBox="1"/>
          <p:nvPr/>
        </p:nvSpPr>
        <p:spPr>
          <a:xfrm>
            <a:off x="868680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DEPARTMENT</a:t>
            </a:r>
            <a:endParaRPr lang="en-US" sz="1200" dirty="0"/>
          </a:p>
        </p:txBody>
      </p:sp>
      <p:sp>
        <p:nvSpPr>
          <p:cNvPr id="15" name="text-11"/>
          <p:cNvSpPr txBox="1"/>
          <p:nvPr/>
        </p:nvSpPr>
        <p:spPr>
          <a:xfrm>
            <a:off x="8686800" y="42793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B.Tech CSE (AIML)</a:t>
            </a:r>
            <a:endParaRPr lang="en-US" sz="1800" dirty="0"/>
          </a:p>
        </p:txBody>
      </p:sp>
      <p:sp>
        <p:nvSpPr>
          <p:cNvPr id="16" name="text-12"/>
          <p:cNvSpPr txBox="1"/>
          <p:nvPr/>
        </p:nvSpPr>
        <p:spPr>
          <a:xfrm>
            <a:off x="5760720" y="5029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GUIDED BY</a:t>
            </a:r>
            <a:endParaRPr lang="en-US" sz="1200" dirty="0"/>
          </a:p>
        </p:txBody>
      </p:sp>
      <p:sp>
        <p:nvSpPr>
          <p:cNvPr id="17" name="text-13"/>
          <p:cNvSpPr txBox="1"/>
          <p:nvPr/>
        </p:nvSpPr>
        <p:spPr>
          <a:xfrm>
            <a:off x="5760720" y="5376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Mr. Abhishek Kumar</a:t>
            </a:r>
            <a:endParaRPr lang="en-US" sz="1800" dirty="0"/>
          </a:p>
        </p:txBody>
      </p:sp>
      <p:sp>
        <p:nvSpPr>
          <p:cNvPr id="18" name="text-14"/>
          <p:cNvSpPr txBox="1"/>
          <p:nvPr/>
        </p:nvSpPr>
        <p:spPr>
          <a:xfrm>
            <a:off x="8686800" y="5029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ACADEMIC YEAR</a:t>
            </a:r>
            <a:endParaRPr lang="en-US" sz="1200" dirty="0"/>
          </a:p>
        </p:txBody>
      </p:sp>
      <p:sp>
        <p:nvSpPr>
          <p:cNvPr id="19" name="text-15"/>
          <p:cNvSpPr txBox="1"/>
          <p:nvPr/>
        </p:nvSpPr>
        <p:spPr>
          <a:xfrm>
            <a:off x="8686800" y="53766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3rd Year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6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02 · INTRODUCTION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Introduction</a:t>
            </a:r>
            <a:endParaRPr lang="en-US" sz="3600" dirty="0"/>
          </a:p>
        </p:txBody>
      </p:sp>
      <p:sp>
        <p:nvSpPr>
          <p:cNvPr id="4" name="card-17"/>
          <p:cNvSpPr/>
          <p:nvPr/>
        </p:nvSpPr>
        <p:spPr>
          <a:xfrm>
            <a:off x="548640" y="1600200"/>
            <a:ext cx="6675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18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19" descr="FaLu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274320" cy="274320"/>
          </a:xfrm>
          <a:prstGeom prst="rect">
            <a:avLst/>
          </a:prstGeom>
        </p:spPr>
      </p:pic>
      <p:sp>
        <p:nvSpPr>
          <p:cNvPr id="7" name="text-20"/>
          <p:cNvSpPr txBox="1"/>
          <p:nvPr/>
        </p:nvSpPr>
        <p:spPr>
          <a:xfrm>
            <a:off x="1554480" y="169164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Pneumonia is a lung infection that can cause serious health complications.</a:t>
            </a:r>
            <a:endParaRPr lang="en-US" sz="1700" dirty="0"/>
          </a:p>
        </p:txBody>
      </p:sp>
      <p:sp>
        <p:nvSpPr>
          <p:cNvPr id="8" name="card-21"/>
          <p:cNvSpPr/>
          <p:nvPr/>
        </p:nvSpPr>
        <p:spPr>
          <a:xfrm>
            <a:off x="548640" y="2697480"/>
            <a:ext cx="6675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22"/>
          <p:cNvSpPr/>
          <p:nvPr/>
        </p:nvSpPr>
        <p:spPr>
          <a:xfrm>
            <a:off x="777240" y="2880360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0" name="icon-23" descr="FaXRa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17520"/>
            <a:ext cx="274320" cy="274320"/>
          </a:xfrm>
          <a:prstGeom prst="rect">
            <a:avLst/>
          </a:prstGeom>
        </p:spPr>
      </p:pic>
      <p:sp>
        <p:nvSpPr>
          <p:cNvPr id="11" name="text-24"/>
          <p:cNvSpPr txBox="1"/>
          <p:nvPr/>
        </p:nvSpPr>
        <p:spPr>
          <a:xfrm>
            <a:off x="1554480" y="278892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Chest X-rays are commonly used to identify signs of pneumonia.</a:t>
            </a:r>
            <a:endParaRPr lang="en-US" sz="1700" dirty="0"/>
          </a:p>
        </p:txBody>
      </p:sp>
      <p:sp>
        <p:nvSpPr>
          <p:cNvPr id="12" name="card-25"/>
          <p:cNvSpPr/>
          <p:nvPr/>
        </p:nvSpPr>
        <p:spPr>
          <a:xfrm>
            <a:off x="548640" y="3794760"/>
            <a:ext cx="6675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bg-26"/>
          <p:cNvSpPr/>
          <p:nvPr/>
        </p:nvSpPr>
        <p:spPr>
          <a:xfrm>
            <a:off x="777240" y="3977640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4" name="icon-27" descr="FaUserDoct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114800"/>
            <a:ext cx="274320" cy="274320"/>
          </a:xfrm>
          <a:prstGeom prst="rect">
            <a:avLst/>
          </a:prstGeom>
        </p:spPr>
      </p:pic>
      <p:sp>
        <p:nvSpPr>
          <p:cNvPr id="15" name="text-28"/>
          <p:cNvSpPr txBox="1"/>
          <p:nvPr/>
        </p:nvSpPr>
        <p:spPr>
          <a:xfrm>
            <a:off x="1554480" y="388620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Manual X-ray analysis requires medical expertise and time.</a:t>
            </a:r>
            <a:endParaRPr lang="en-US" sz="1700" dirty="0"/>
          </a:p>
        </p:txBody>
      </p:sp>
      <p:sp>
        <p:nvSpPr>
          <p:cNvPr id="16" name="card-29"/>
          <p:cNvSpPr/>
          <p:nvPr/>
        </p:nvSpPr>
        <p:spPr>
          <a:xfrm>
            <a:off x="548640" y="4892040"/>
            <a:ext cx="667512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bg-30"/>
          <p:cNvSpPr/>
          <p:nvPr/>
        </p:nvSpPr>
        <p:spPr>
          <a:xfrm>
            <a:off x="777240" y="5074920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8" name="icon-31" descr="FaBrai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5212080"/>
            <a:ext cx="274320" cy="274320"/>
          </a:xfrm>
          <a:prstGeom prst="rect">
            <a:avLst/>
          </a:prstGeom>
        </p:spPr>
      </p:pic>
      <p:sp>
        <p:nvSpPr>
          <p:cNvPr id="19" name="text-32"/>
          <p:cNvSpPr txBox="1"/>
          <p:nvPr/>
        </p:nvSpPr>
        <p:spPr>
          <a:xfrm>
            <a:off x="1554480" y="498348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Deep learning with CNN and MobileNetV2 helps automate image classification.</a:t>
            </a:r>
            <a:endParaRPr lang="en-US" sz="1700" dirty="0"/>
          </a:p>
        </p:txBody>
      </p:sp>
      <p:sp>
        <p:nvSpPr>
          <p:cNvPr id="20" name="card-33"/>
          <p:cNvSpPr/>
          <p:nvPr/>
        </p:nvSpPr>
        <p:spPr>
          <a:xfrm>
            <a:off x="7498080" y="1600200"/>
            <a:ext cx="4142232" cy="4206240"/>
          </a:xfrm>
          <a:prstGeom prst="roundRect">
            <a:avLst>
              <a:gd name="adj" fmla="val 264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-34"/>
          <p:cNvSpPr txBox="1"/>
          <p:nvPr/>
        </p:nvSpPr>
        <p:spPr>
          <a:xfrm>
            <a:off x="7818120" y="18745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This project classifies chest X-rays into two categories: NORMAL and PNEUMONIA.</a:t>
            </a:r>
            <a:endParaRPr lang="en-US" sz="1700" dirty="0"/>
          </a:p>
        </p:txBody>
      </p:sp>
      <p:sp>
        <p:nvSpPr>
          <p:cNvPr id="22" name="card-35"/>
          <p:cNvSpPr/>
          <p:nvPr/>
        </p:nvSpPr>
        <p:spPr>
          <a:xfrm>
            <a:off x="7818120" y="3337560"/>
            <a:ext cx="3502152" cy="100584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-36"/>
          <p:cNvSpPr txBox="1"/>
          <p:nvPr/>
        </p:nvSpPr>
        <p:spPr>
          <a:xfrm>
            <a:off x="8092440" y="345643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NORMAL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 0</a:t>
            </a:r>
            <a:endParaRPr lang="en-US" sz="1400" dirty="0"/>
          </a:p>
        </p:txBody>
      </p:sp>
      <p:sp>
        <p:nvSpPr>
          <p:cNvPr id="24" name="card-37"/>
          <p:cNvSpPr/>
          <p:nvPr/>
        </p:nvSpPr>
        <p:spPr>
          <a:xfrm>
            <a:off x="7818120" y="4526280"/>
            <a:ext cx="3502152" cy="1005840"/>
          </a:xfrm>
          <a:prstGeom prst="roundRect">
            <a:avLst>
              <a:gd name="adj" fmla="val 10909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5" name="text-38"/>
          <p:cNvSpPr txBox="1"/>
          <p:nvPr/>
        </p:nvSpPr>
        <p:spPr>
          <a:xfrm>
            <a:off x="8092440" y="4645152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PNEUMONIA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Class 1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9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03 · PROBLEM STATEMENT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4" name="card-40"/>
          <p:cNvSpPr/>
          <p:nvPr/>
        </p:nvSpPr>
        <p:spPr>
          <a:xfrm>
            <a:off x="548640" y="1600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41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42" descr="FaMagnifyingGla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7" name="text-43"/>
          <p:cNvSpPr txBox="1"/>
          <p:nvPr/>
        </p:nvSpPr>
        <p:spPr>
          <a:xfrm>
            <a:off x="82296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Pneumonia detection requires careful analysis of chest X-ray images.</a:t>
            </a:r>
            <a:endParaRPr lang="en-US" sz="1700" dirty="0"/>
          </a:p>
        </p:txBody>
      </p:sp>
      <p:sp>
        <p:nvSpPr>
          <p:cNvPr id="8" name="card-44"/>
          <p:cNvSpPr/>
          <p:nvPr/>
        </p:nvSpPr>
        <p:spPr>
          <a:xfrm>
            <a:off x="4297680" y="1600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45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0" name="icon-46" descr="FaCl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2034540"/>
            <a:ext cx="320040" cy="320040"/>
          </a:xfrm>
          <a:prstGeom prst="rect">
            <a:avLst/>
          </a:prstGeom>
        </p:spPr>
      </p:pic>
      <p:sp>
        <p:nvSpPr>
          <p:cNvPr id="11" name="text-47"/>
          <p:cNvSpPr txBox="1"/>
          <p:nvPr/>
        </p:nvSpPr>
        <p:spPr>
          <a:xfrm>
            <a:off x="457200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Manual diagnosis depends on medical expertise and can be time-consuming.</a:t>
            </a:r>
            <a:endParaRPr lang="en-US" sz="1700" dirty="0"/>
          </a:p>
        </p:txBody>
      </p:sp>
      <p:sp>
        <p:nvSpPr>
          <p:cNvPr id="12" name="card-48"/>
          <p:cNvSpPr/>
          <p:nvPr/>
        </p:nvSpPr>
        <p:spPr>
          <a:xfrm>
            <a:off x="8046720" y="160020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bg-49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4" name="icon-50" descr="FaEy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034540"/>
            <a:ext cx="320040" cy="320040"/>
          </a:xfrm>
          <a:prstGeom prst="rect">
            <a:avLst/>
          </a:prstGeom>
        </p:spPr>
      </p:pic>
      <p:sp>
        <p:nvSpPr>
          <p:cNvPr id="15" name="text-51"/>
          <p:cNvSpPr txBox="1"/>
          <p:nvPr/>
        </p:nvSpPr>
        <p:spPr>
          <a:xfrm>
            <a:off x="832104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Small or unclear abnormalities may be difficult to identify consistently.</a:t>
            </a:r>
            <a:endParaRPr lang="en-US" sz="1700" dirty="0"/>
          </a:p>
        </p:txBody>
      </p:sp>
      <p:sp>
        <p:nvSpPr>
          <p:cNvPr id="16" name="card-52"/>
          <p:cNvSpPr/>
          <p:nvPr/>
        </p:nvSpPr>
        <p:spPr>
          <a:xfrm>
            <a:off x="548640" y="4069080"/>
            <a:ext cx="11094415" cy="2103120"/>
          </a:xfrm>
          <a:prstGeom prst="roundRect">
            <a:avLst>
              <a:gd name="adj" fmla="val 5217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7" name="iconbg-53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8" name="icon-54" descr="FaBullsey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" y="4549140"/>
            <a:ext cx="320040" cy="320040"/>
          </a:xfrm>
          <a:prstGeom prst="rect">
            <a:avLst/>
          </a:prstGeom>
        </p:spPr>
      </p:pic>
      <p:sp>
        <p:nvSpPr>
          <p:cNvPr id="19" name="text-55"/>
          <p:cNvSpPr txBox="1"/>
          <p:nvPr/>
        </p:nvSpPr>
        <p:spPr>
          <a:xfrm>
            <a:off x="1783080" y="4389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GOAL</a:t>
            </a:r>
            <a:endParaRPr lang="en-US" sz="1200" dirty="0"/>
          </a:p>
        </p:txBody>
      </p:sp>
      <p:sp>
        <p:nvSpPr>
          <p:cNvPr id="20" name="text-56"/>
          <p:cNvSpPr txBox="1"/>
          <p:nvPr/>
        </p:nvSpPr>
        <p:spPr>
          <a:xfrm>
            <a:off x="1783080" y="47091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Develop a deep learning model to classify X-rays as NORMAL (Class 0) or PNEUMONIA (Class 1).</a:t>
            </a:r>
            <a:endParaRPr lang="en-US" sz="1700" dirty="0"/>
          </a:p>
        </p:txBody>
      </p:sp>
      <p:sp>
        <p:nvSpPr>
          <p:cNvPr id="21" name="iconbg-57"/>
          <p:cNvSpPr/>
          <p:nvPr/>
        </p:nvSpPr>
        <p:spPr>
          <a:xfrm>
            <a:off x="6355080" y="43891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2" name="icon-58" descr="FaShieldHalv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4549140"/>
            <a:ext cx="320040" cy="320040"/>
          </a:xfrm>
          <a:prstGeom prst="rect">
            <a:avLst/>
          </a:prstGeom>
        </p:spPr>
      </p:pic>
      <p:sp>
        <p:nvSpPr>
          <p:cNvPr id="23" name="text-59"/>
          <p:cNvSpPr txBox="1"/>
          <p:nvPr/>
        </p:nvSpPr>
        <p:spPr>
          <a:xfrm>
            <a:off x="7223760" y="4389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PRIORITY</a:t>
            </a:r>
            <a:endParaRPr lang="en-US" sz="1200" dirty="0"/>
          </a:p>
        </p:txBody>
      </p:sp>
      <p:sp>
        <p:nvSpPr>
          <p:cNvPr id="24" name="text-60"/>
          <p:cNvSpPr txBox="1"/>
          <p:nvPr/>
        </p:nvSpPr>
        <p:spPr>
          <a:xfrm>
            <a:off x="7223760" y="47091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Minimize false-negative predictions while supporting, not replacing, professional medical diagnosis.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1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04 · MOTIVATION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Motivation</a:t>
            </a:r>
            <a:endParaRPr lang="en-US" sz="3600" dirty="0"/>
          </a:p>
        </p:txBody>
      </p:sp>
      <p:sp>
        <p:nvSpPr>
          <p:cNvPr id="4" name="card-62"/>
          <p:cNvSpPr/>
          <p:nvPr/>
        </p:nvSpPr>
        <p:spPr>
          <a:xfrm>
            <a:off x="548640" y="1600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6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64" descr="FaStethosc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7" name="text-65"/>
          <p:cNvSpPr txBox="1"/>
          <p:nvPr/>
        </p:nvSpPr>
        <p:spPr>
          <a:xfrm>
            <a:off x="82296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Promote early identification of pneumonia through chest X-ray analysis.</a:t>
            </a:r>
            <a:endParaRPr lang="en-US" sz="1700" dirty="0"/>
          </a:p>
        </p:txBody>
      </p:sp>
      <p:sp>
        <p:nvSpPr>
          <p:cNvPr id="8" name="card-66"/>
          <p:cNvSpPr/>
          <p:nvPr/>
        </p:nvSpPr>
        <p:spPr>
          <a:xfrm>
            <a:off x="4297680" y="1600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67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0" name="icon-68" descr="FaMicrosco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20" y="2034540"/>
            <a:ext cx="320040" cy="320040"/>
          </a:xfrm>
          <a:prstGeom prst="rect">
            <a:avLst/>
          </a:prstGeom>
        </p:spPr>
      </p:pic>
      <p:sp>
        <p:nvSpPr>
          <p:cNvPr id="11" name="text-69"/>
          <p:cNvSpPr txBox="1"/>
          <p:nvPr/>
        </p:nvSpPr>
        <p:spPr>
          <a:xfrm>
            <a:off x="457200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Explore the application of AI and deep learning in medical imaging.</a:t>
            </a:r>
            <a:endParaRPr lang="en-US" sz="1700" dirty="0"/>
          </a:p>
        </p:txBody>
      </p:sp>
      <p:sp>
        <p:nvSpPr>
          <p:cNvPr id="12" name="card-70"/>
          <p:cNvSpPr/>
          <p:nvPr/>
        </p:nvSpPr>
        <p:spPr>
          <a:xfrm>
            <a:off x="8046720" y="1600200"/>
            <a:ext cx="356616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bg-71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4" name="icon-72" descr="FaBo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60" y="2034540"/>
            <a:ext cx="320040" cy="320040"/>
          </a:xfrm>
          <a:prstGeom prst="rect">
            <a:avLst/>
          </a:prstGeom>
        </p:spPr>
      </p:pic>
      <p:sp>
        <p:nvSpPr>
          <p:cNvPr id="15" name="text-73"/>
          <p:cNvSpPr txBox="1"/>
          <p:nvPr/>
        </p:nvSpPr>
        <p:spPr>
          <a:xfrm>
            <a:off x="8321040" y="26974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Automate image classification to support faster and more consistent screening.</a:t>
            </a:r>
            <a:endParaRPr lang="en-US" sz="1700" dirty="0"/>
          </a:p>
        </p:txBody>
      </p:sp>
      <p:sp>
        <p:nvSpPr>
          <p:cNvPr id="16" name="card-74"/>
          <p:cNvSpPr/>
          <p:nvPr/>
        </p:nvSpPr>
        <p:spPr>
          <a:xfrm>
            <a:off x="548640" y="397764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bg-75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8" name="icon-76" descr="FaGraduationCa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19" name="text-77"/>
          <p:cNvSpPr txBox="1"/>
          <p:nvPr/>
        </p:nvSpPr>
        <p:spPr>
          <a:xfrm>
            <a:off x="82296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Gain practical experience with CNNs, transfer learning, and MobileNetV2.</a:t>
            </a:r>
            <a:endParaRPr lang="en-US" sz="1700" dirty="0"/>
          </a:p>
        </p:txBody>
      </p:sp>
      <p:sp>
        <p:nvSpPr>
          <p:cNvPr id="20" name="card-78"/>
          <p:cNvSpPr/>
          <p:nvPr/>
        </p:nvSpPr>
        <p:spPr>
          <a:xfrm>
            <a:off x="6172200" y="397764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bg-79"/>
          <p:cNvSpPr/>
          <p:nvPr/>
        </p:nvSpPr>
        <p:spPr>
          <a:xfrm>
            <a:off x="6446520" y="425196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2" name="icon-80" descr="FaChartLin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6540" y="4411980"/>
            <a:ext cx="320040" cy="320040"/>
          </a:xfrm>
          <a:prstGeom prst="rect">
            <a:avLst/>
          </a:prstGeom>
        </p:spPr>
      </p:pic>
      <p:sp>
        <p:nvSpPr>
          <p:cNvPr id="23" name="text-81"/>
          <p:cNvSpPr txBox="1"/>
          <p:nvPr/>
        </p:nvSpPr>
        <p:spPr>
          <a:xfrm>
            <a:off x="644652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</a:rPr>
              <a:t>Evaluate model performance and understand the potential and limitations of AI in healthcare.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2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05 · OBJECTIVES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4" name="card-83"/>
          <p:cNvSpPr/>
          <p:nvPr/>
        </p:nvSpPr>
        <p:spPr>
          <a:xfrm>
            <a:off x="548640" y="160020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ard-84"/>
          <p:cNvSpPr/>
          <p:nvPr/>
        </p:nvSpPr>
        <p:spPr>
          <a:xfrm>
            <a:off x="548640" y="1600200"/>
            <a:ext cx="1005840" cy="804672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-85"/>
          <p:cNvSpPr txBox="1"/>
          <p:nvPr/>
        </p:nvSpPr>
        <p:spPr>
          <a:xfrm>
            <a:off x="548640" y="16002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-86"/>
          <p:cNvSpPr txBox="1"/>
          <p:nvPr/>
        </p:nvSpPr>
        <p:spPr>
          <a:xfrm>
            <a:off x="1828800" y="1600200"/>
            <a:ext cx="9539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Analyze the chest X-ray dataset and examine class distribution.</a:t>
            </a:r>
            <a:endParaRPr lang="en-US" sz="1800" dirty="0"/>
          </a:p>
        </p:txBody>
      </p:sp>
      <p:sp>
        <p:nvSpPr>
          <p:cNvPr id="8" name="card-87"/>
          <p:cNvSpPr/>
          <p:nvPr/>
        </p:nvSpPr>
        <p:spPr>
          <a:xfrm>
            <a:off x="548640" y="251460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ard-88"/>
          <p:cNvSpPr/>
          <p:nvPr/>
        </p:nvSpPr>
        <p:spPr>
          <a:xfrm>
            <a:off x="548640" y="2514600"/>
            <a:ext cx="1005840" cy="804672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-89"/>
          <p:cNvSpPr txBox="1"/>
          <p:nvPr/>
        </p:nvSpPr>
        <p:spPr>
          <a:xfrm>
            <a:off x="548640" y="25146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-90"/>
          <p:cNvSpPr txBox="1"/>
          <p:nvPr/>
        </p:nvSpPr>
        <p:spPr>
          <a:xfrm>
            <a:off x="1828800" y="2514600"/>
            <a:ext cx="9539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Preprocess images using resizing, normalization, and data augmentation.</a:t>
            </a:r>
            <a:endParaRPr lang="en-US" sz="1800" dirty="0"/>
          </a:p>
        </p:txBody>
      </p:sp>
      <p:sp>
        <p:nvSpPr>
          <p:cNvPr id="12" name="card-91"/>
          <p:cNvSpPr/>
          <p:nvPr/>
        </p:nvSpPr>
        <p:spPr>
          <a:xfrm>
            <a:off x="548640" y="342900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-92"/>
          <p:cNvSpPr/>
          <p:nvPr/>
        </p:nvSpPr>
        <p:spPr>
          <a:xfrm>
            <a:off x="548640" y="3429000"/>
            <a:ext cx="1005840" cy="804672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4" name="text-93"/>
          <p:cNvSpPr txBox="1"/>
          <p:nvPr/>
        </p:nvSpPr>
        <p:spPr>
          <a:xfrm>
            <a:off x="548640" y="34290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-94"/>
          <p:cNvSpPr txBox="1"/>
          <p:nvPr/>
        </p:nvSpPr>
        <p:spPr>
          <a:xfrm>
            <a:off x="1828800" y="3429000"/>
            <a:ext cx="9539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Develop a pneumonia classification model using CNN and MobileNetV2.</a:t>
            </a:r>
            <a:endParaRPr lang="en-US" sz="1800" dirty="0"/>
          </a:p>
        </p:txBody>
      </p:sp>
      <p:sp>
        <p:nvSpPr>
          <p:cNvPr id="16" name="card-95"/>
          <p:cNvSpPr/>
          <p:nvPr/>
        </p:nvSpPr>
        <p:spPr>
          <a:xfrm>
            <a:off x="548640" y="434340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ard-96"/>
          <p:cNvSpPr/>
          <p:nvPr/>
        </p:nvSpPr>
        <p:spPr>
          <a:xfrm>
            <a:off x="548640" y="4343400"/>
            <a:ext cx="1005840" cy="804672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-97"/>
          <p:cNvSpPr txBox="1"/>
          <p:nvPr/>
        </p:nvSpPr>
        <p:spPr>
          <a:xfrm>
            <a:off x="548640" y="43434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-98"/>
          <p:cNvSpPr txBox="1"/>
          <p:nvPr/>
        </p:nvSpPr>
        <p:spPr>
          <a:xfrm>
            <a:off x="1828800" y="4343400"/>
            <a:ext cx="9539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Train and evaluate the model using accuracy, precision, recall, F1-score, and ROC-AUC.</a:t>
            </a:r>
            <a:endParaRPr lang="en-US" sz="1800" dirty="0"/>
          </a:p>
        </p:txBody>
      </p:sp>
      <p:sp>
        <p:nvSpPr>
          <p:cNvPr id="20" name="card-99"/>
          <p:cNvSpPr/>
          <p:nvPr/>
        </p:nvSpPr>
        <p:spPr>
          <a:xfrm>
            <a:off x="548640" y="5257800"/>
            <a:ext cx="11094415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card-100"/>
          <p:cNvSpPr/>
          <p:nvPr/>
        </p:nvSpPr>
        <p:spPr>
          <a:xfrm>
            <a:off x="548640" y="5257800"/>
            <a:ext cx="1005840" cy="804672"/>
          </a:xfrm>
          <a:prstGeom prst="roundRect">
            <a:avLst>
              <a:gd name="adj" fmla="val 1363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-101"/>
          <p:cNvSpPr txBox="1"/>
          <p:nvPr/>
        </p:nvSpPr>
        <p:spPr>
          <a:xfrm>
            <a:off x="548640" y="5257800"/>
            <a:ext cx="1005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800" dirty="0"/>
          </a:p>
        </p:txBody>
      </p:sp>
      <p:sp>
        <p:nvSpPr>
          <p:cNvPr id="23" name="text-102"/>
          <p:cNvSpPr txBox="1"/>
          <p:nvPr/>
        </p:nvSpPr>
        <p:spPr>
          <a:xfrm>
            <a:off x="1828800" y="5257800"/>
            <a:ext cx="953993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Save the trained model and implement a reusable image prediction system.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03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06 · SCOPE OF THE PROJECT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Scope of the Project</a:t>
            </a:r>
            <a:endParaRPr lang="en-US" sz="3600" dirty="0"/>
          </a:p>
        </p:txBody>
      </p:sp>
      <p:sp>
        <p:nvSpPr>
          <p:cNvPr id="4" name="card-104"/>
          <p:cNvSpPr/>
          <p:nvPr/>
        </p:nvSpPr>
        <p:spPr>
          <a:xfrm>
            <a:off x="548640" y="1600200"/>
            <a:ext cx="7040880" cy="452628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105"/>
          <p:cNvSpPr txBox="1"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IN SCOPE</a:t>
            </a:r>
            <a:endParaRPr lang="en-US" sz="1200" dirty="0"/>
          </a:p>
        </p:txBody>
      </p:sp>
      <p:sp>
        <p:nvSpPr>
          <p:cNvPr id="6" name="iconbg-106"/>
          <p:cNvSpPr/>
          <p:nvPr/>
        </p:nvSpPr>
        <p:spPr>
          <a:xfrm>
            <a:off x="914400" y="2322576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con-107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2427732"/>
            <a:ext cx="210312" cy="210312"/>
          </a:xfrm>
          <a:prstGeom prst="rect">
            <a:avLst/>
          </a:prstGeom>
        </p:spPr>
      </p:pic>
      <p:sp>
        <p:nvSpPr>
          <p:cNvPr id="8" name="text-108"/>
          <p:cNvSpPr txBox="1"/>
          <p:nvPr/>
        </p:nvSpPr>
        <p:spPr>
          <a:xfrm>
            <a:off x="1554480" y="22860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Use the Kaggle Chest X-Ray dataset containing NORMAL and PNEUMONIA images.</a:t>
            </a:r>
            <a:endParaRPr lang="en-US" sz="1600" dirty="0"/>
          </a:p>
        </p:txBody>
      </p:sp>
      <p:sp>
        <p:nvSpPr>
          <p:cNvPr id="9" name="iconbg-109"/>
          <p:cNvSpPr/>
          <p:nvPr/>
        </p:nvSpPr>
        <p:spPr>
          <a:xfrm>
            <a:off x="914400" y="3072384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con-110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3177540"/>
            <a:ext cx="210312" cy="210312"/>
          </a:xfrm>
          <a:prstGeom prst="rect">
            <a:avLst/>
          </a:prstGeom>
        </p:spPr>
      </p:pic>
      <p:sp>
        <p:nvSpPr>
          <p:cNvPr id="11" name="text-111"/>
          <p:cNvSpPr txBox="1"/>
          <p:nvPr/>
        </p:nvSpPr>
        <p:spPr>
          <a:xfrm>
            <a:off x="1554480" y="303580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Perform data analysis, image preprocessing, normalization, and augmentation.</a:t>
            </a:r>
            <a:endParaRPr lang="en-US" sz="1600" dirty="0"/>
          </a:p>
        </p:txBody>
      </p:sp>
      <p:sp>
        <p:nvSpPr>
          <p:cNvPr id="12" name="iconbg-112"/>
          <p:cNvSpPr/>
          <p:nvPr/>
        </p:nvSpPr>
        <p:spPr>
          <a:xfrm>
            <a:off x="914400" y="3822192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3" name="icon-113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3927348"/>
            <a:ext cx="210312" cy="210312"/>
          </a:xfrm>
          <a:prstGeom prst="rect">
            <a:avLst/>
          </a:prstGeom>
        </p:spPr>
      </p:pic>
      <p:sp>
        <p:nvSpPr>
          <p:cNvPr id="14" name="text-114"/>
          <p:cNvSpPr txBox="1"/>
          <p:nvPr/>
        </p:nvSpPr>
        <p:spPr>
          <a:xfrm>
            <a:off x="1554480" y="378561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Develop and train a MobileNetV2-based CNN classification model.</a:t>
            </a:r>
            <a:endParaRPr lang="en-US" sz="1600" dirty="0"/>
          </a:p>
        </p:txBody>
      </p:sp>
      <p:sp>
        <p:nvSpPr>
          <p:cNvPr id="15" name="iconbg-115"/>
          <p:cNvSpPr/>
          <p:nvPr/>
        </p:nvSpPr>
        <p:spPr>
          <a:xfrm>
            <a:off x="914400" y="4572000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con-116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4677156"/>
            <a:ext cx="210312" cy="210312"/>
          </a:xfrm>
          <a:prstGeom prst="rect">
            <a:avLst/>
          </a:prstGeom>
        </p:spPr>
      </p:pic>
      <p:sp>
        <p:nvSpPr>
          <p:cNvPr id="17" name="text-117"/>
          <p:cNvSpPr txBox="1"/>
          <p:nvPr/>
        </p:nvSpPr>
        <p:spPr>
          <a:xfrm>
            <a:off x="1554480" y="453542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Evaluate performance and save the trained model with class labels and metadata.</a:t>
            </a:r>
            <a:endParaRPr lang="en-US" sz="1600" dirty="0"/>
          </a:p>
        </p:txBody>
      </p:sp>
      <p:sp>
        <p:nvSpPr>
          <p:cNvPr id="18" name="iconbg-118"/>
          <p:cNvSpPr/>
          <p:nvPr/>
        </p:nvSpPr>
        <p:spPr>
          <a:xfrm>
            <a:off x="914400" y="5321808"/>
            <a:ext cx="420624" cy="42062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con-119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5426964"/>
            <a:ext cx="210312" cy="210312"/>
          </a:xfrm>
          <a:prstGeom prst="rect">
            <a:avLst/>
          </a:prstGeom>
        </p:spPr>
      </p:pic>
      <p:sp>
        <p:nvSpPr>
          <p:cNvPr id="20" name="text-120"/>
          <p:cNvSpPr txBox="1"/>
          <p:nvPr/>
        </p:nvSpPr>
        <p:spPr>
          <a:xfrm>
            <a:off x="1554480" y="5285232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Support single-image and batch predictions.</a:t>
            </a:r>
            <a:endParaRPr lang="en-US" sz="1600" dirty="0"/>
          </a:p>
        </p:txBody>
      </p:sp>
      <p:sp>
        <p:nvSpPr>
          <p:cNvPr id="21" name="card-121"/>
          <p:cNvSpPr/>
          <p:nvPr/>
        </p:nvSpPr>
        <p:spPr>
          <a:xfrm>
            <a:off x="7863840" y="1600200"/>
            <a:ext cx="3776472" cy="4526280"/>
          </a:xfrm>
          <a:prstGeom prst="roundRect">
            <a:avLst>
              <a:gd name="adj" fmla="val 2906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2" name="text-122"/>
          <p:cNvSpPr txBox="1"/>
          <p:nvPr/>
        </p:nvSpPr>
        <p:spPr>
          <a:xfrm>
            <a:off x="822960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OUT OF SCOPE</a:t>
            </a:r>
            <a:endParaRPr lang="en-US" sz="1200" dirty="0"/>
          </a:p>
        </p:txBody>
      </p:sp>
      <p:sp>
        <p:nvSpPr>
          <p:cNvPr id="23" name="iconbg-123"/>
          <p:cNvSpPr/>
          <p:nvPr/>
        </p:nvSpPr>
        <p:spPr>
          <a:xfrm>
            <a:off x="8229600" y="2468880"/>
            <a:ext cx="822960" cy="82296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4" name="icon-124" descr="FaXmar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340" y="2674620"/>
            <a:ext cx="411480" cy="411480"/>
          </a:xfrm>
          <a:prstGeom prst="rect">
            <a:avLst/>
          </a:prstGeom>
        </p:spPr>
      </p:pic>
      <p:sp>
        <p:nvSpPr>
          <p:cNvPr id="25" name="text-125"/>
          <p:cNvSpPr txBox="1"/>
          <p:nvPr/>
        </p:nvSpPr>
        <p:spPr>
          <a:xfrm>
            <a:off x="8229600" y="361188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Clinical diagnosis and real-world deployment are outside the current scope.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26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07 · METHODOLOGY · PART 1 OF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Methodology</a:t>
            </a:r>
            <a:endParaRPr lang="en-US" sz="3600" dirty="0"/>
          </a:p>
        </p:txBody>
      </p:sp>
      <p:sp>
        <p:nvSpPr>
          <p:cNvPr id="4" name="card-127"/>
          <p:cNvSpPr/>
          <p:nvPr/>
        </p:nvSpPr>
        <p:spPr>
          <a:xfrm>
            <a:off x="548640" y="1600200"/>
            <a:ext cx="3566160" cy="4114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128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-129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-130"/>
          <p:cNvSpPr txBox="1"/>
          <p:nvPr/>
        </p:nvSpPr>
        <p:spPr>
          <a:xfrm>
            <a:off x="164592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text-131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Dataset Collection</a:t>
            </a:r>
            <a:endParaRPr lang="en-US" sz="2000" dirty="0"/>
          </a:p>
        </p:txBody>
      </p:sp>
      <p:sp>
        <p:nvSpPr>
          <p:cNvPr id="9" name="text-132"/>
          <p:cNvSpPr txBox="1"/>
          <p:nvPr/>
        </p:nvSpPr>
        <p:spPr>
          <a:xfrm>
            <a:off x="822960" y="34747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Selected the Chest X-Ray Pneumonia dataset from Kaggle.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Organized the images into NORMAL and PNEUMONIA folders.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separate training, validation, and testing directories.</a:t>
            </a:r>
            <a:endParaRPr lang="en-US" sz="1400" dirty="0"/>
          </a:p>
        </p:txBody>
      </p:sp>
      <p:sp>
        <p:nvSpPr>
          <p:cNvPr id="10" name="card-133"/>
          <p:cNvSpPr/>
          <p:nvPr/>
        </p:nvSpPr>
        <p:spPr>
          <a:xfrm>
            <a:off x="4297680" y="1600200"/>
            <a:ext cx="3566160" cy="4114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-134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-135"/>
          <p:cNvSpPr txBox="1"/>
          <p:nvPr/>
        </p:nvSpPr>
        <p:spPr>
          <a:xfrm>
            <a:off x="45720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-136"/>
          <p:cNvSpPr txBox="1"/>
          <p:nvPr/>
        </p:nvSpPr>
        <p:spPr>
          <a:xfrm>
            <a:off x="53949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2</a:t>
            </a:r>
            <a:endParaRPr lang="en-US" sz="1200" dirty="0"/>
          </a:p>
        </p:txBody>
      </p:sp>
      <p:sp>
        <p:nvSpPr>
          <p:cNvPr id="14" name="text-137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Exploratory Data Analysis</a:t>
            </a:r>
            <a:endParaRPr lang="en-US" sz="2000" dirty="0"/>
          </a:p>
        </p:txBody>
      </p:sp>
      <p:sp>
        <p:nvSpPr>
          <p:cNvPr id="15" name="text-138"/>
          <p:cNvSpPr txBox="1"/>
          <p:nvPr/>
        </p:nvSpPr>
        <p:spPr>
          <a:xfrm>
            <a:off x="4572000" y="34747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Counted the images in each class and dataset split.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Displayed sample NORMAL and PNEUMONIA X-ray images.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Examined image dimensions, file sizes, and pixel-intensity distribution.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Identified class imbalance in the dataset.</a:t>
            </a:r>
            <a:endParaRPr lang="en-US" sz="1400" dirty="0"/>
          </a:p>
        </p:txBody>
      </p:sp>
      <p:sp>
        <p:nvSpPr>
          <p:cNvPr id="16" name="card-139"/>
          <p:cNvSpPr/>
          <p:nvPr/>
        </p:nvSpPr>
        <p:spPr>
          <a:xfrm>
            <a:off x="8046720" y="1600200"/>
            <a:ext cx="3566160" cy="4114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-140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-141"/>
          <p:cNvSpPr txBox="1"/>
          <p:nvPr/>
        </p:nvSpPr>
        <p:spPr>
          <a:xfrm>
            <a:off x="8321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-142"/>
          <p:cNvSpPr txBox="1"/>
          <p:nvPr/>
        </p:nvSpPr>
        <p:spPr>
          <a:xfrm>
            <a:off x="91440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3</a:t>
            </a:r>
            <a:endParaRPr lang="en-US" sz="1200" dirty="0"/>
          </a:p>
        </p:txBody>
      </p:sp>
      <p:sp>
        <p:nvSpPr>
          <p:cNvPr id="20" name="text-143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Image Preprocessing</a:t>
            </a:r>
            <a:endParaRPr lang="en-US" sz="2000" dirty="0"/>
          </a:p>
        </p:txBody>
      </p:sp>
      <p:sp>
        <p:nvSpPr>
          <p:cNvPr id="21" name="text-144"/>
          <p:cNvSpPr txBox="1"/>
          <p:nvPr/>
        </p:nvSpPr>
        <p:spPr>
          <a:xfrm>
            <a:off x="8321040" y="34747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Resized images to 150 × 150 pixels.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Normalized pixel values from the 0–255 range to the 0–1 range.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Loaded images in batches of 32 using Keras.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Applied random horizontal flips, rotation, and zoom to training images.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45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07 · METHODOLOGY · PART 2 OF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Methodology</a:t>
            </a:r>
            <a:endParaRPr lang="en-US" sz="3600" dirty="0"/>
          </a:p>
        </p:txBody>
      </p:sp>
      <p:sp>
        <p:nvSpPr>
          <p:cNvPr id="4" name="card-146"/>
          <p:cNvSpPr/>
          <p:nvPr/>
        </p:nvSpPr>
        <p:spPr>
          <a:xfrm>
            <a:off x="548640" y="1600200"/>
            <a:ext cx="3566160" cy="4114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147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6" name="text-148"/>
          <p:cNvSpPr txBox="1"/>
          <p:nvPr/>
        </p:nvSpPr>
        <p:spPr>
          <a:xfrm>
            <a:off x="822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200" dirty="0"/>
          </a:p>
        </p:txBody>
      </p:sp>
      <p:sp>
        <p:nvSpPr>
          <p:cNvPr id="7" name="text-149"/>
          <p:cNvSpPr txBox="1"/>
          <p:nvPr/>
        </p:nvSpPr>
        <p:spPr>
          <a:xfrm>
            <a:off x="164592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4</a:t>
            </a:r>
            <a:endParaRPr lang="en-US" sz="1200" dirty="0"/>
          </a:p>
        </p:txBody>
      </p:sp>
      <p:sp>
        <p:nvSpPr>
          <p:cNvPr id="8" name="text-150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Model Development</a:t>
            </a:r>
            <a:endParaRPr lang="en-US" sz="2000" dirty="0"/>
          </a:p>
        </p:txBody>
      </p:sp>
      <p:sp>
        <p:nvSpPr>
          <p:cNvPr id="9" name="text-151"/>
          <p:cNvSpPr txBox="1"/>
          <p:nvPr/>
        </p:nvSpPr>
        <p:spPr>
          <a:xfrm>
            <a:off x="822960" y="34747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Used a pretrained MobileNetV2-based CNN for feature extraction.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Added classification layers to generate a binary prediction.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Configured the model for NORMAL/PNEUMONIA classification.</a:t>
            </a:r>
            <a:endParaRPr lang="en-US" sz="1400" dirty="0"/>
          </a:p>
        </p:txBody>
      </p:sp>
      <p:sp>
        <p:nvSpPr>
          <p:cNvPr id="10" name="card-152"/>
          <p:cNvSpPr/>
          <p:nvPr/>
        </p:nvSpPr>
        <p:spPr>
          <a:xfrm>
            <a:off x="4297680" y="1600200"/>
            <a:ext cx="3566160" cy="4114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num-153"/>
          <p:cNvSpPr/>
          <p:nvPr/>
        </p:nvSpPr>
        <p:spPr>
          <a:xfrm>
            <a:off x="4572000" y="1874520"/>
            <a:ext cx="640080" cy="6400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2" name="text-154"/>
          <p:cNvSpPr txBox="1"/>
          <p:nvPr/>
        </p:nvSpPr>
        <p:spPr>
          <a:xfrm>
            <a:off x="45720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2200" dirty="0"/>
          </a:p>
        </p:txBody>
      </p:sp>
      <p:sp>
        <p:nvSpPr>
          <p:cNvPr id="13" name="text-155"/>
          <p:cNvSpPr txBox="1"/>
          <p:nvPr/>
        </p:nvSpPr>
        <p:spPr>
          <a:xfrm>
            <a:off x="53949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5</a:t>
            </a:r>
            <a:endParaRPr lang="en-US" sz="1200" dirty="0"/>
          </a:p>
        </p:txBody>
      </p:sp>
      <p:sp>
        <p:nvSpPr>
          <p:cNvPr id="14" name="text-156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Training and Evaluation</a:t>
            </a:r>
            <a:endParaRPr lang="en-US" sz="2000" dirty="0"/>
          </a:p>
        </p:txBody>
      </p:sp>
      <p:sp>
        <p:nvSpPr>
          <p:cNvPr id="15" name="text-157"/>
          <p:cNvSpPr txBox="1"/>
          <p:nvPr/>
        </p:nvSpPr>
        <p:spPr>
          <a:xfrm>
            <a:off x="4572000" y="34747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Trained the model using the prepared training dataset.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Compared different model configurations and fine-tuning experiments.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Evaluated performance on the held-out test dataset.</a:t>
            </a:r>
            <a:endParaRPr lang="en-US" sz="1400" dirty="0"/>
          </a:p>
        </p:txBody>
      </p:sp>
      <p:sp>
        <p:nvSpPr>
          <p:cNvPr id="16" name="card-158"/>
          <p:cNvSpPr/>
          <p:nvPr/>
        </p:nvSpPr>
        <p:spPr>
          <a:xfrm>
            <a:off x="8046720" y="1600200"/>
            <a:ext cx="3566160" cy="41148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num-159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-160"/>
          <p:cNvSpPr txBox="1"/>
          <p:nvPr/>
        </p:nvSpPr>
        <p:spPr>
          <a:xfrm>
            <a:off x="83210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2200" dirty="0"/>
          </a:p>
        </p:txBody>
      </p:sp>
      <p:sp>
        <p:nvSpPr>
          <p:cNvPr id="19" name="text-161"/>
          <p:cNvSpPr txBox="1"/>
          <p:nvPr/>
        </p:nvSpPr>
        <p:spPr>
          <a:xfrm>
            <a:off x="91440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6</a:t>
            </a:r>
            <a:endParaRPr lang="en-US" sz="1200" dirty="0"/>
          </a:p>
        </p:txBody>
      </p:sp>
      <p:sp>
        <p:nvSpPr>
          <p:cNvPr id="20" name="text-162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Saving and Prediction</a:t>
            </a:r>
            <a:endParaRPr lang="en-US" sz="2000" dirty="0"/>
          </a:p>
        </p:txBody>
      </p:sp>
      <p:sp>
        <p:nvSpPr>
          <p:cNvPr id="21" name="text-163"/>
          <p:cNvSpPr txBox="1"/>
          <p:nvPr/>
        </p:nvSpPr>
        <p:spPr>
          <a:xfrm>
            <a:off x="8321040" y="347472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Saved the trained model as final_model.keras.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Stored model metadata and class labels separately.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Implemented a reusable prediction interface and tested sample predictions.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64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08 · WORKING PRINCIPLE · PART 1 OF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Working Principle</a:t>
            </a:r>
            <a:endParaRPr lang="en-US" sz="3600" dirty="0"/>
          </a:p>
        </p:txBody>
      </p:sp>
      <p:sp>
        <p:nvSpPr>
          <p:cNvPr id="4" name="card-165"/>
          <p:cNvSpPr/>
          <p:nvPr/>
        </p:nvSpPr>
        <p:spPr>
          <a:xfrm>
            <a:off x="548640" y="1600200"/>
            <a:ext cx="3383280" cy="4526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166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167" descr="Fa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034540"/>
            <a:ext cx="320040" cy="320040"/>
          </a:xfrm>
          <a:prstGeom prst="rect">
            <a:avLst/>
          </a:prstGeom>
        </p:spPr>
      </p:pic>
      <p:sp>
        <p:nvSpPr>
          <p:cNvPr id="7" name="text-168"/>
          <p:cNvSpPr txBox="1"/>
          <p:nvPr/>
        </p:nvSpPr>
        <p:spPr>
          <a:xfrm>
            <a:off x="164592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1</a:t>
            </a:r>
            <a:endParaRPr lang="en-US" sz="1200" dirty="0"/>
          </a:p>
        </p:txBody>
      </p:sp>
      <p:sp>
        <p:nvSpPr>
          <p:cNvPr id="8" name="text-169"/>
          <p:cNvSpPr txBox="1"/>
          <p:nvPr/>
        </p:nvSpPr>
        <p:spPr>
          <a:xfrm>
            <a:off x="82296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Input Image</a:t>
            </a:r>
            <a:endParaRPr lang="en-US" sz="2000" dirty="0"/>
          </a:p>
        </p:txBody>
      </p:sp>
      <p:sp>
        <p:nvSpPr>
          <p:cNvPr id="9" name="text-170"/>
          <p:cNvSpPr txBox="1"/>
          <p:nvPr/>
        </p:nvSpPr>
        <p:spPr>
          <a:xfrm>
            <a:off x="822960" y="347472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system receives a chest X-ray image from a file.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image is expected to represent one of the two supported classes.</a:t>
            </a:r>
            <a:endParaRPr lang="en-US" sz="1400" dirty="0"/>
          </a:p>
        </p:txBody>
      </p:sp>
      <p:sp>
        <p:nvSpPr>
          <p:cNvPr id="10" name="arrow-171"/>
          <p:cNvSpPr/>
          <p:nvPr/>
        </p:nvSpPr>
        <p:spPr>
          <a:xfrm>
            <a:off x="4032504" y="3589020"/>
            <a:ext cx="256032" cy="548640"/>
          </a:xfrm>
          <a:prstGeom prst="chevron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sp>
        <p:nvSpPr>
          <p:cNvPr id="11" name="card-172"/>
          <p:cNvSpPr/>
          <p:nvPr/>
        </p:nvSpPr>
        <p:spPr>
          <a:xfrm>
            <a:off x="4389120" y="1600200"/>
            <a:ext cx="3383280" cy="4526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bg-173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3" name="icon-174" descr="FaSlid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034540"/>
            <a:ext cx="320040" cy="320040"/>
          </a:xfrm>
          <a:prstGeom prst="rect">
            <a:avLst/>
          </a:prstGeom>
        </p:spPr>
      </p:pic>
      <p:sp>
        <p:nvSpPr>
          <p:cNvPr id="14" name="text-175"/>
          <p:cNvSpPr txBox="1"/>
          <p:nvPr/>
        </p:nvSpPr>
        <p:spPr>
          <a:xfrm>
            <a:off x="548640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2</a:t>
            </a:r>
            <a:endParaRPr lang="en-US" sz="1200" dirty="0"/>
          </a:p>
        </p:txBody>
      </p:sp>
      <p:sp>
        <p:nvSpPr>
          <p:cNvPr id="15" name="text-176"/>
          <p:cNvSpPr txBox="1"/>
          <p:nvPr/>
        </p:nvSpPr>
        <p:spPr>
          <a:xfrm>
            <a:off x="466344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Image Preprocessing</a:t>
            </a:r>
            <a:endParaRPr lang="en-US" sz="2000" dirty="0"/>
          </a:p>
        </p:txBody>
      </p:sp>
      <p:sp>
        <p:nvSpPr>
          <p:cNvPr id="16" name="text-177"/>
          <p:cNvSpPr txBox="1"/>
          <p:nvPr/>
        </p:nvSpPr>
        <p:spPr>
          <a:xfrm>
            <a:off x="4663440" y="347472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input image is resized to 150 × 150 pixels.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image is converted into a numerical array.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Pixel values are divided by 255 to normalize them to the range 0–1.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batch dimension is added to match the model's expected input format.</a:t>
            </a:r>
            <a:endParaRPr lang="en-US" sz="1400" dirty="0"/>
          </a:p>
        </p:txBody>
      </p:sp>
      <p:sp>
        <p:nvSpPr>
          <p:cNvPr id="17" name="arrow-178"/>
          <p:cNvSpPr/>
          <p:nvPr/>
        </p:nvSpPr>
        <p:spPr>
          <a:xfrm>
            <a:off x="7872984" y="3589020"/>
            <a:ext cx="256032" cy="548640"/>
          </a:xfrm>
          <a:prstGeom prst="chevron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sp>
        <p:nvSpPr>
          <p:cNvPr id="18" name="card-179"/>
          <p:cNvSpPr/>
          <p:nvPr/>
        </p:nvSpPr>
        <p:spPr>
          <a:xfrm>
            <a:off x="8229600" y="1600200"/>
            <a:ext cx="3383280" cy="4526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180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0" name="icon-181" descr="FaBr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940" y="2034540"/>
            <a:ext cx="320040" cy="320040"/>
          </a:xfrm>
          <a:prstGeom prst="rect">
            <a:avLst/>
          </a:prstGeom>
        </p:spPr>
      </p:pic>
      <p:sp>
        <p:nvSpPr>
          <p:cNvPr id="21" name="text-182"/>
          <p:cNvSpPr txBox="1"/>
          <p:nvPr/>
        </p:nvSpPr>
        <p:spPr>
          <a:xfrm>
            <a:off x="932688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3</a:t>
            </a:r>
            <a:endParaRPr lang="en-US" sz="1200" dirty="0"/>
          </a:p>
        </p:txBody>
      </p:sp>
      <p:sp>
        <p:nvSpPr>
          <p:cNvPr id="22" name="text-183"/>
          <p:cNvSpPr txBox="1"/>
          <p:nvPr/>
        </p:nvSpPr>
        <p:spPr>
          <a:xfrm>
            <a:off x="8503920" y="26974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Feature Extraction</a:t>
            </a:r>
            <a:endParaRPr lang="en-US" sz="2000" dirty="0"/>
          </a:p>
        </p:txBody>
      </p:sp>
      <p:sp>
        <p:nvSpPr>
          <p:cNvPr id="23" name="text-184"/>
          <p:cNvSpPr txBox="1"/>
          <p:nvPr/>
        </p:nvSpPr>
        <p:spPr>
          <a:xfrm>
            <a:off x="8503920" y="3474720"/>
            <a:ext cx="28346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processed image is passed to the MobileNetV2-based neural network.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network extracts useful visual features from the X-ray.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These features are used to distinguish patterns associated with the two classes.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85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08 · WORKING PRINCIPLE · PART 2 OF 2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Working Principle</a:t>
            </a:r>
            <a:endParaRPr lang="en-US" sz="3600" dirty="0"/>
          </a:p>
        </p:txBody>
      </p:sp>
      <p:sp>
        <p:nvSpPr>
          <p:cNvPr id="4" name="card-186"/>
          <p:cNvSpPr/>
          <p:nvPr/>
        </p:nvSpPr>
        <p:spPr>
          <a:xfrm>
            <a:off x="548640" y="1600200"/>
            <a:ext cx="5440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187"/>
          <p:cNvSpPr/>
          <p:nvPr/>
        </p:nvSpPr>
        <p:spPr>
          <a:xfrm>
            <a:off x="822960" y="1856232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188" descr="FaLayerGrou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93392"/>
            <a:ext cx="274320" cy="274320"/>
          </a:xfrm>
          <a:prstGeom prst="rect">
            <a:avLst/>
          </a:prstGeom>
        </p:spPr>
      </p:pic>
      <p:sp>
        <p:nvSpPr>
          <p:cNvPr id="7" name="text-189"/>
          <p:cNvSpPr txBox="1"/>
          <p:nvPr/>
        </p:nvSpPr>
        <p:spPr>
          <a:xfrm>
            <a:off x="155448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4</a:t>
            </a:r>
            <a:endParaRPr lang="en-US" sz="1200" dirty="0"/>
          </a:p>
        </p:txBody>
      </p:sp>
      <p:sp>
        <p:nvSpPr>
          <p:cNvPr id="8" name="text-190"/>
          <p:cNvSpPr txBox="1"/>
          <p:nvPr/>
        </p:nvSpPr>
        <p:spPr>
          <a:xfrm>
            <a:off x="155448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Classification</a:t>
            </a:r>
            <a:endParaRPr lang="en-US" sz="2000" dirty="0"/>
          </a:p>
        </p:txBody>
      </p:sp>
      <p:sp>
        <p:nvSpPr>
          <p:cNvPr id="9" name="text-191"/>
          <p:cNvSpPr txBox="1"/>
          <p:nvPr/>
        </p:nvSpPr>
        <p:spPr>
          <a:xfrm>
            <a:off x="822960" y="265176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classification layer generates a prediction score.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implementation uses a threshold of 0.5 to determine the predicted class.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output is interpreted using the saved class-label mapping.</a:t>
            </a:r>
            <a:endParaRPr lang="en-US" sz="1400" dirty="0"/>
          </a:p>
        </p:txBody>
      </p:sp>
      <p:sp>
        <p:nvSpPr>
          <p:cNvPr id="10" name="card-192"/>
          <p:cNvSpPr/>
          <p:nvPr/>
        </p:nvSpPr>
        <p:spPr>
          <a:xfrm>
            <a:off x="6172200" y="1600200"/>
            <a:ext cx="5440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bg-193"/>
          <p:cNvSpPr/>
          <p:nvPr/>
        </p:nvSpPr>
        <p:spPr>
          <a:xfrm>
            <a:off x="6446520" y="1856232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2" name="icon-194" descr="FaCircle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993392"/>
            <a:ext cx="274320" cy="274320"/>
          </a:xfrm>
          <a:prstGeom prst="rect">
            <a:avLst/>
          </a:prstGeom>
        </p:spPr>
      </p:pic>
      <p:sp>
        <p:nvSpPr>
          <p:cNvPr id="13" name="text-195"/>
          <p:cNvSpPr txBox="1"/>
          <p:nvPr/>
        </p:nvSpPr>
        <p:spPr>
          <a:xfrm>
            <a:off x="717804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STEP 5</a:t>
            </a:r>
            <a:endParaRPr lang="en-US" sz="1200" dirty="0"/>
          </a:p>
        </p:txBody>
      </p:sp>
      <p:sp>
        <p:nvSpPr>
          <p:cNvPr id="14" name="text-196"/>
          <p:cNvSpPr txBox="1"/>
          <p:nvPr/>
        </p:nvSpPr>
        <p:spPr>
          <a:xfrm>
            <a:off x="7178040" y="2057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Output Generation</a:t>
            </a:r>
            <a:endParaRPr lang="en-US" sz="2000" dirty="0"/>
          </a:p>
        </p:txBody>
      </p:sp>
      <p:sp>
        <p:nvSpPr>
          <p:cNvPr id="15" name="text-197"/>
          <p:cNvSpPr txBox="1"/>
          <p:nvPr/>
        </p:nvSpPr>
        <p:spPr>
          <a:xfrm>
            <a:off x="6446520" y="265176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system returns the predicted label: NORMAL or PNEUMONIA.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prediction interface displays a confidence/probability value and timestamp.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Batch prediction is also supported for multiple inputs.</a:t>
            </a:r>
            <a:endParaRPr lang="en-US" sz="1400" dirty="0"/>
          </a:p>
        </p:txBody>
      </p:sp>
      <p:sp>
        <p:nvSpPr>
          <p:cNvPr id="16" name="text-198"/>
          <p:cNvSpPr txBox="1"/>
          <p:nvPr/>
        </p:nvSpPr>
        <p:spPr>
          <a:xfrm>
            <a:off x="548640" y="4617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OVERALL FLOW</a:t>
            </a:r>
            <a:endParaRPr lang="en-US" sz="1200" dirty="0"/>
          </a:p>
        </p:txBody>
      </p:sp>
      <p:sp>
        <p:nvSpPr>
          <p:cNvPr id="17" name="card-199"/>
          <p:cNvSpPr/>
          <p:nvPr/>
        </p:nvSpPr>
        <p:spPr>
          <a:xfrm>
            <a:off x="548640" y="50292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8" name="text-200"/>
          <p:cNvSpPr txBox="1"/>
          <p:nvPr/>
        </p:nvSpPr>
        <p:spPr>
          <a:xfrm>
            <a:off x="640080" y="5029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Chest X-ray</a:t>
            </a:r>
            <a:endParaRPr lang="en-US" sz="1500" dirty="0"/>
          </a:p>
        </p:txBody>
      </p:sp>
      <p:sp>
        <p:nvSpPr>
          <p:cNvPr id="19" name="arrow-201"/>
          <p:cNvSpPr/>
          <p:nvPr/>
        </p:nvSpPr>
        <p:spPr>
          <a:xfrm>
            <a:off x="2188434" y="5440680"/>
            <a:ext cx="182880" cy="274320"/>
          </a:xfrm>
          <a:prstGeom prst="chevron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sp>
        <p:nvSpPr>
          <p:cNvPr id="20" name="card-202"/>
          <p:cNvSpPr/>
          <p:nvPr/>
        </p:nvSpPr>
        <p:spPr>
          <a:xfrm>
            <a:off x="2456627" y="50292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1" name="text-203"/>
          <p:cNvSpPr txBox="1"/>
          <p:nvPr/>
        </p:nvSpPr>
        <p:spPr>
          <a:xfrm>
            <a:off x="2548067" y="5029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Resize</a:t>
            </a:r>
            <a:endParaRPr lang="en-US" sz="1500" dirty="0"/>
          </a:p>
        </p:txBody>
      </p:sp>
      <p:sp>
        <p:nvSpPr>
          <p:cNvPr id="22" name="arrow-204"/>
          <p:cNvSpPr/>
          <p:nvPr/>
        </p:nvSpPr>
        <p:spPr>
          <a:xfrm>
            <a:off x="4096421" y="5440680"/>
            <a:ext cx="182880" cy="274320"/>
          </a:xfrm>
          <a:prstGeom prst="chevron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sp>
        <p:nvSpPr>
          <p:cNvPr id="23" name="card-205"/>
          <p:cNvSpPr/>
          <p:nvPr/>
        </p:nvSpPr>
        <p:spPr>
          <a:xfrm>
            <a:off x="4364614" y="50292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4" name="text-206"/>
          <p:cNvSpPr txBox="1"/>
          <p:nvPr/>
        </p:nvSpPr>
        <p:spPr>
          <a:xfrm>
            <a:off x="4456054" y="5029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Normalize</a:t>
            </a:r>
            <a:endParaRPr lang="en-US" sz="1500" dirty="0"/>
          </a:p>
        </p:txBody>
      </p:sp>
      <p:sp>
        <p:nvSpPr>
          <p:cNvPr id="25" name="arrow-207"/>
          <p:cNvSpPr/>
          <p:nvPr/>
        </p:nvSpPr>
        <p:spPr>
          <a:xfrm>
            <a:off x="6004408" y="5440680"/>
            <a:ext cx="182880" cy="274320"/>
          </a:xfrm>
          <a:prstGeom prst="chevron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sp>
        <p:nvSpPr>
          <p:cNvPr id="26" name="card-208"/>
          <p:cNvSpPr/>
          <p:nvPr/>
        </p:nvSpPr>
        <p:spPr>
          <a:xfrm>
            <a:off x="6272601" y="50292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7" name="text-209"/>
          <p:cNvSpPr txBox="1"/>
          <p:nvPr/>
        </p:nvSpPr>
        <p:spPr>
          <a:xfrm>
            <a:off x="6364041" y="5029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CNN Feature Extraction</a:t>
            </a:r>
            <a:endParaRPr lang="en-US" sz="1500" dirty="0"/>
          </a:p>
        </p:txBody>
      </p:sp>
      <p:sp>
        <p:nvSpPr>
          <p:cNvPr id="28" name="arrow-210"/>
          <p:cNvSpPr/>
          <p:nvPr/>
        </p:nvSpPr>
        <p:spPr>
          <a:xfrm>
            <a:off x="7912395" y="5440680"/>
            <a:ext cx="182880" cy="274320"/>
          </a:xfrm>
          <a:prstGeom prst="chevron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sp>
        <p:nvSpPr>
          <p:cNvPr id="29" name="card-211"/>
          <p:cNvSpPr/>
          <p:nvPr/>
        </p:nvSpPr>
        <p:spPr>
          <a:xfrm>
            <a:off x="8180588" y="50292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0" name="text-212"/>
          <p:cNvSpPr txBox="1"/>
          <p:nvPr/>
        </p:nvSpPr>
        <p:spPr>
          <a:xfrm>
            <a:off x="8272028" y="5029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31" name="arrow-213"/>
          <p:cNvSpPr/>
          <p:nvPr/>
        </p:nvSpPr>
        <p:spPr>
          <a:xfrm>
            <a:off x="9820382" y="5440680"/>
            <a:ext cx="182880" cy="274320"/>
          </a:xfrm>
          <a:prstGeom prst="chevron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sp>
        <p:nvSpPr>
          <p:cNvPr id="32" name="card-214"/>
          <p:cNvSpPr/>
          <p:nvPr/>
        </p:nvSpPr>
        <p:spPr>
          <a:xfrm>
            <a:off x="10088575" y="5029200"/>
            <a:ext cx="1554480" cy="1097280"/>
          </a:xfrm>
          <a:prstGeom prst="roundRect">
            <a:avLst>
              <a:gd name="adj" fmla="val 10000"/>
            </a:avLst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sp>
        <p:nvSpPr>
          <p:cNvPr id="33" name="text-215"/>
          <p:cNvSpPr txBox="1"/>
          <p:nvPr/>
        </p:nvSpPr>
        <p:spPr>
          <a:xfrm>
            <a:off x="10180015" y="50292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Predicted Label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16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09 · APPLICATIONS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Applications</a:t>
            </a:r>
            <a:endParaRPr lang="en-US" sz="3600" dirty="0"/>
          </a:p>
        </p:txBody>
      </p:sp>
      <p:sp>
        <p:nvSpPr>
          <p:cNvPr id="4" name="card-217"/>
          <p:cNvSpPr/>
          <p:nvPr/>
        </p:nvSpPr>
        <p:spPr>
          <a:xfrm>
            <a:off x="548640" y="16002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218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219" descr="FaMicroscop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7" name="text-220"/>
          <p:cNvSpPr txBox="1"/>
          <p:nvPr/>
        </p:nvSpPr>
        <p:spPr>
          <a:xfrm>
            <a:off x="1508760" y="17373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Medical Image Analysis Research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Used to study deep learning methods for identifying visual patterns in chest X-ray images.</a:t>
            </a:r>
            <a:endParaRPr lang="en-US" sz="1400" dirty="0"/>
          </a:p>
        </p:txBody>
      </p:sp>
      <p:sp>
        <p:nvSpPr>
          <p:cNvPr id="8" name="card-221"/>
          <p:cNvSpPr/>
          <p:nvPr/>
        </p:nvSpPr>
        <p:spPr>
          <a:xfrm>
            <a:off x="6172200" y="1600200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222"/>
          <p:cNvSpPr/>
          <p:nvPr/>
        </p:nvSpPr>
        <p:spPr>
          <a:xfrm>
            <a:off x="6400800" y="1874520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0" name="icon-223" descr="FaStethosco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011680"/>
            <a:ext cx="274320" cy="274320"/>
          </a:xfrm>
          <a:prstGeom prst="rect">
            <a:avLst/>
          </a:prstGeom>
        </p:spPr>
      </p:pic>
      <p:sp>
        <p:nvSpPr>
          <p:cNvPr id="11" name="text-224"/>
          <p:cNvSpPr txBox="1"/>
          <p:nvPr/>
        </p:nvSpPr>
        <p:spPr>
          <a:xfrm>
            <a:off x="7132320" y="17373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Clinical Decision-Support Research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May be explored as an additional screening aid after appropriate clinical validation.</a:t>
            </a:r>
            <a:endParaRPr lang="en-US" sz="1400" dirty="0"/>
          </a:p>
        </p:txBody>
      </p:sp>
      <p:sp>
        <p:nvSpPr>
          <p:cNvPr id="12" name="card-225"/>
          <p:cNvSpPr/>
          <p:nvPr/>
        </p:nvSpPr>
        <p:spPr>
          <a:xfrm>
            <a:off x="548640" y="3127248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bg-226"/>
          <p:cNvSpPr/>
          <p:nvPr/>
        </p:nvSpPr>
        <p:spPr>
          <a:xfrm>
            <a:off x="777240" y="3401568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4" name="icon-227" descr="FaGraduationC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538728"/>
            <a:ext cx="274320" cy="274320"/>
          </a:xfrm>
          <a:prstGeom prst="rect">
            <a:avLst/>
          </a:prstGeom>
        </p:spPr>
      </p:pic>
      <p:sp>
        <p:nvSpPr>
          <p:cNvPr id="15" name="text-228"/>
          <p:cNvSpPr txBox="1"/>
          <p:nvPr/>
        </p:nvSpPr>
        <p:spPr>
          <a:xfrm>
            <a:off x="1508760" y="3264408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Educational Demonstrations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Helps students understand the application of CNNs and transfer learning to medical images.</a:t>
            </a:r>
            <a:endParaRPr lang="en-US" sz="1400" dirty="0"/>
          </a:p>
        </p:txBody>
      </p:sp>
      <p:sp>
        <p:nvSpPr>
          <p:cNvPr id="16" name="card-229"/>
          <p:cNvSpPr/>
          <p:nvPr/>
        </p:nvSpPr>
        <p:spPr>
          <a:xfrm>
            <a:off x="6172200" y="3127248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bg-230"/>
          <p:cNvSpPr/>
          <p:nvPr/>
        </p:nvSpPr>
        <p:spPr>
          <a:xfrm>
            <a:off x="6400800" y="3401568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8" name="icon-231" descr="FaHospit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538728"/>
            <a:ext cx="274320" cy="274320"/>
          </a:xfrm>
          <a:prstGeom prst="rect">
            <a:avLst/>
          </a:prstGeom>
        </p:spPr>
      </p:pic>
      <p:sp>
        <p:nvSpPr>
          <p:cNvPr id="19" name="text-232"/>
          <p:cNvSpPr txBox="1"/>
          <p:nvPr/>
        </p:nvSpPr>
        <p:spPr>
          <a:xfrm>
            <a:off x="7132320" y="3264408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Healthcare AI Development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Provides a foundation for developing and testing image-classification prototypes.</a:t>
            </a:r>
            <a:endParaRPr lang="en-US" sz="1400" dirty="0"/>
          </a:p>
        </p:txBody>
      </p:sp>
      <p:sp>
        <p:nvSpPr>
          <p:cNvPr id="20" name="card-233"/>
          <p:cNvSpPr/>
          <p:nvPr/>
        </p:nvSpPr>
        <p:spPr>
          <a:xfrm>
            <a:off x="548640" y="4654296"/>
            <a:ext cx="54406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bg-234"/>
          <p:cNvSpPr/>
          <p:nvPr/>
        </p:nvSpPr>
        <p:spPr>
          <a:xfrm>
            <a:off x="777240" y="4928616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2" name="icon-235" descr="Fa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065776"/>
            <a:ext cx="274320" cy="274320"/>
          </a:xfrm>
          <a:prstGeom prst="rect">
            <a:avLst/>
          </a:prstGeom>
        </p:spPr>
      </p:pic>
      <p:sp>
        <p:nvSpPr>
          <p:cNvPr id="23" name="text-236"/>
          <p:cNvSpPr txBox="1"/>
          <p:nvPr/>
        </p:nvSpPr>
        <p:spPr>
          <a:xfrm>
            <a:off x="1508760" y="4791456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Automated Image Classification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Demonstrates how a computer can assign a category to an image based on learned features.</a:t>
            </a:r>
            <a:endParaRPr lang="en-US" sz="1400" dirty="0"/>
          </a:p>
        </p:txBody>
      </p:sp>
      <p:sp>
        <p:nvSpPr>
          <p:cNvPr id="24" name="card-237"/>
          <p:cNvSpPr/>
          <p:nvPr/>
        </p:nvSpPr>
        <p:spPr>
          <a:xfrm>
            <a:off x="6172200" y="4654296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5" name="text-238"/>
          <p:cNvSpPr txBox="1"/>
          <p:nvPr/>
        </p:nvSpPr>
        <p:spPr>
          <a:xfrm>
            <a:off x="6537960" y="4654296"/>
            <a:ext cx="1097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-239"/>
          <p:cNvSpPr txBox="1"/>
          <p:nvPr/>
        </p:nvSpPr>
        <p:spPr>
          <a:xfrm>
            <a:off x="7635240" y="4654296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application areas for chest X-ray classification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40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10 · ADVANTAGES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Advantages</a:t>
            </a:r>
            <a:endParaRPr lang="en-US" sz="3600" dirty="0"/>
          </a:p>
        </p:txBody>
      </p:sp>
      <p:sp>
        <p:nvSpPr>
          <p:cNvPr id="4" name="card-241"/>
          <p:cNvSpPr/>
          <p:nvPr/>
        </p:nvSpPr>
        <p:spPr>
          <a:xfrm>
            <a:off x="548640" y="1600200"/>
            <a:ext cx="3200400" cy="4526280"/>
          </a:xfrm>
          <a:prstGeom prst="roundRect">
            <a:avLst>
              <a:gd name="adj" fmla="val 342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5" name="iconbg-242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243" descr="FaCircle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080260"/>
            <a:ext cx="320040" cy="320040"/>
          </a:xfrm>
          <a:prstGeom prst="rect">
            <a:avLst/>
          </a:prstGeom>
        </p:spPr>
      </p:pic>
      <p:sp>
        <p:nvSpPr>
          <p:cNvPr id="7" name="text-244"/>
          <p:cNvSpPr txBox="1"/>
          <p:nvPr/>
        </p:nvSpPr>
        <p:spPr>
          <a:xfrm>
            <a:off x="914400" y="278892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97.69%</a:t>
            </a:r>
            <a:endParaRPr lang="en-US" sz="5400" dirty="0"/>
          </a:p>
        </p:txBody>
      </p:sp>
      <p:sp>
        <p:nvSpPr>
          <p:cNvPr id="8" name="text-245"/>
          <p:cNvSpPr txBox="1"/>
          <p:nvPr/>
        </p:nvSpPr>
        <p:spPr>
          <a:xfrm>
            <a:off x="91440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High Pneumonia Recall</a:t>
            </a:r>
            <a:endParaRPr lang="en-US" sz="1800" dirty="0"/>
          </a:p>
        </p:txBody>
      </p:sp>
      <p:sp>
        <p:nvSpPr>
          <p:cNvPr id="9" name="text-246"/>
          <p:cNvSpPr txBox="1"/>
          <p:nvPr/>
        </p:nvSpPr>
        <p:spPr>
          <a:xfrm>
            <a:off x="914400" y="42062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Achieved 97.69% recall on the recorded test evaluation, indicating that most pneumonia cases in that test set were detected.</a:t>
            </a:r>
            <a:endParaRPr lang="en-US" sz="1400" dirty="0"/>
          </a:p>
        </p:txBody>
      </p:sp>
      <p:sp>
        <p:nvSpPr>
          <p:cNvPr id="10" name="card-247"/>
          <p:cNvSpPr/>
          <p:nvPr/>
        </p:nvSpPr>
        <p:spPr>
          <a:xfrm>
            <a:off x="3931920" y="160020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bg-248"/>
          <p:cNvSpPr/>
          <p:nvPr/>
        </p:nvSpPr>
        <p:spPr>
          <a:xfrm>
            <a:off x="4160520" y="1874520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2" name="icon-249" descr="FaRob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011680"/>
            <a:ext cx="274320" cy="274320"/>
          </a:xfrm>
          <a:prstGeom prst="rect">
            <a:avLst/>
          </a:prstGeom>
        </p:spPr>
      </p:pic>
      <p:sp>
        <p:nvSpPr>
          <p:cNvPr id="13" name="text-250"/>
          <p:cNvSpPr txBox="1"/>
          <p:nvPr/>
        </p:nvSpPr>
        <p:spPr>
          <a:xfrm>
            <a:off x="4892040" y="173736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Automated Classification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Processes chest X-ray images and predicts NORMAL or PNEUMONIA without requiring manual labeling for each new prediction.</a:t>
            </a:r>
            <a:endParaRPr lang="en-US" sz="1400" dirty="0"/>
          </a:p>
        </p:txBody>
      </p:sp>
      <p:sp>
        <p:nvSpPr>
          <p:cNvPr id="14" name="card-251"/>
          <p:cNvSpPr/>
          <p:nvPr/>
        </p:nvSpPr>
        <p:spPr>
          <a:xfrm>
            <a:off x="7863840" y="1600200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bg-252"/>
          <p:cNvSpPr/>
          <p:nvPr/>
        </p:nvSpPr>
        <p:spPr>
          <a:xfrm>
            <a:off x="8092440" y="1874520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6" name="icon-253" descr="FaSlid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011680"/>
            <a:ext cx="274320" cy="274320"/>
          </a:xfrm>
          <a:prstGeom prst="rect">
            <a:avLst/>
          </a:prstGeom>
        </p:spPr>
      </p:pic>
      <p:sp>
        <p:nvSpPr>
          <p:cNvPr id="17" name="text-254"/>
          <p:cNvSpPr txBox="1"/>
          <p:nvPr/>
        </p:nvSpPr>
        <p:spPr>
          <a:xfrm>
            <a:off x="8823960" y="1737360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Consistent Preprocessing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Applies a standard image size and pixel-normalization procedure before prediction.</a:t>
            </a:r>
            <a:endParaRPr lang="en-US" sz="1400" dirty="0"/>
          </a:p>
        </p:txBody>
      </p:sp>
      <p:sp>
        <p:nvSpPr>
          <p:cNvPr id="18" name="card-255"/>
          <p:cNvSpPr/>
          <p:nvPr/>
        </p:nvSpPr>
        <p:spPr>
          <a:xfrm>
            <a:off x="3931920" y="3127248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bg-256"/>
          <p:cNvSpPr/>
          <p:nvPr/>
        </p:nvSpPr>
        <p:spPr>
          <a:xfrm>
            <a:off x="4160520" y="3401568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0" name="icon-257" descr="FaRepea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3538728"/>
            <a:ext cx="274320" cy="274320"/>
          </a:xfrm>
          <a:prstGeom prst="rect">
            <a:avLst/>
          </a:prstGeom>
        </p:spPr>
      </p:pic>
      <p:sp>
        <p:nvSpPr>
          <p:cNvPr id="21" name="text-258"/>
          <p:cNvSpPr txBox="1"/>
          <p:nvPr/>
        </p:nvSpPr>
        <p:spPr>
          <a:xfrm>
            <a:off x="4892040" y="326440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Data Augmentation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Introduces variation into training images through horizontal flipping, rotation, and zooming.</a:t>
            </a:r>
            <a:endParaRPr lang="en-US" sz="1400" dirty="0"/>
          </a:p>
        </p:txBody>
      </p:sp>
      <p:sp>
        <p:nvSpPr>
          <p:cNvPr id="22" name="card-259"/>
          <p:cNvSpPr/>
          <p:nvPr/>
        </p:nvSpPr>
        <p:spPr>
          <a:xfrm>
            <a:off x="7863840" y="3127248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bg-260"/>
          <p:cNvSpPr/>
          <p:nvPr/>
        </p:nvSpPr>
        <p:spPr>
          <a:xfrm>
            <a:off x="8092440" y="3401568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4" name="icon-261" descr="FaChartColum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538728"/>
            <a:ext cx="274320" cy="274320"/>
          </a:xfrm>
          <a:prstGeom prst="rect">
            <a:avLst/>
          </a:prstGeom>
        </p:spPr>
      </p:pic>
      <p:sp>
        <p:nvSpPr>
          <p:cNvPr id="25" name="text-262"/>
          <p:cNvSpPr txBox="1"/>
          <p:nvPr/>
        </p:nvSpPr>
        <p:spPr>
          <a:xfrm>
            <a:off x="8823960" y="3264408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Multiple Evaluation Metrics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Measures performance using accuracy, precision, recall, F1-score, sensitivity, specificity, and ROC-AUC.</a:t>
            </a:r>
            <a:endParaRPr lang="en-US" sz="1400" dirty="0"/>
          </a:p>
        </p:txBody>
      </p:sp>
      <p:sp>
        <p:nvSpPr>
          <p:cNvPr id="26" name="card-263"/>
          <p:cNvSpPr/>
          <p:nvPr/>
        </p:nvSpPr>
        <p:spPr>
          <a:xfrm>
            <a:off x="3931920" y="4654296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iconbg-264"/>
          <p:cNvSpPr/>
          <p:nvPr/>
        </p:nvSpPr>
        <p:spPr>
          <a:xfrm>
            <a:off x="4160520" y="4928616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8" name="icon-265" descr="FaCub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5065776"/>
            <a:ext cx="274320" cy="274320"/>
          </a:xfrm>
          <a:prstGeom prst="rect">
            <a:avLst/>
          </a:prstGeom>
        </p:spPr>
      </p:pic>
      <p:sp>
        <p:nvSpPr>
          <p:cNvPr id="29" name="text-266"/>
          <p:cNvSpPr txBox="1"/>
          <p:nvPr/>
        </p:nvSpPr>
        <p:spPr>
          <a:xfrm>
            <a:off x="4892040" y="4791456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Reusable Prediction Interface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Supports prediction on individual images and batches of inputs.</a:t>
            </a:r>
            <a:endParaRPr lang="en-US" sz="1400" dirty="0"/>
          </a:p>
        </p:txBody>
      </p:sp>
      <p:sp>
        <p:nvSpPr>
          <p:cNvPr id="30" name="card-267"/>
          <p:cNvSpPr/>
          <p:nvPr/>
        </p:nvSpPr>
        <p:spPr>
          <a:xfrm>
            <a:off x="7863840" y="4654296"/>
            <a:ext cx="37490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iconbg-268"/>
          <p:cNvSpPr/>
          <p:nvPr/>
        </p:nvSpPr>
        <p:spPr>
          <a:xfrm>
            <a:off x="8092440" y="4928616"/>
            <a:ext cx="548640" cy="54864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32" name="icon-269" descr="FaBookOpe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5065776"/>
            <a:ext cx="274320" cy="274320"/>
          </a:xfrm>
          <a:prstGeom prst="rect">
            <a:avLst/>
          </a:prstGeom>
        </p:spPr>
      </p:pic>
      <p:sp>
        <p:nvSpPr>
          <p:cNvPr id="33" name="text-270"/>
          <p:cNvSpPr txBox="1"/>
          <p:nvPr/>
        </p:nvSpPr>
        <p:spPr>
          <a:xfrm>
            <a:off x="8823960" y="4791456"/>
            <a:ext cx="2606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Learning Value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Demonstrates a complete workflow covering data preparation, model training, evaluation, and prediction.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71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11 · LIMITATIONS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Limitations</a:t>
            </a:r>
            <a:endParaRPr lang="en-US" sz="3600" dirty="0"/>
          </a:p>
        </p:txBody>
      </p:sp>
      <p:sp>
        <p:nvSpPr>
          <p:cNvPr id="4" name="card-272"/>
          <p:cNvSpPr/>
          <p:nvPr/>
        </p:nvSpPr>
        <p:spPr>
          <a:xfrm>
            <a:off x="548640" y="1554480"/>
            <a:ext cx="544068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273"/>
          <p:cNvSpPr/>
          <p:nvPr/>
        </p:nvSpPr>
        <p:spPr>
          <a:xfrm>
            <a:off x="749808" y="1837944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-274" descr="FaScaleUnbalanc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1963674"/>
            <a:ext cx="251460" cy="251460"/>
          </a:xfrm>
          <a:prstGeom prst="rect">
            <a:avLst/>
          </a:prstGeom>
        </p:spPr>
      </p:pic>
      <p:sp>
        <p:nvSpPr>
          <p:cNvPr id="7" name="text-275"/>
          <p:cNvSpPr txBox="1"/>
          <p:nvPr/>
        </p:nvSpPr>
        <p:spPr>
          <a:xfrm>
            <a:off x="1417320" y="1609344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Class Imbalance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dataset contains 4,275 PNEUMONIA images and 1,595 NORMAL images, so the classes are not equally represented.</a:t>
            </a:r>
            <a:endParaRPr lang="en-US" sz="1400" dirty="0"/>
          </a:p>
        </p:txBody>
      </p:sp>
      <p:sp>
        <p:nvSpPr>
          <p:cNvPr id="8" name="card-276"/>
          <p:cNvSpPr/>
          <p:nvPr/>
        </p:nvSpPr>
        <p:spPr>
          <a:xfrm>
            <a:off x="6172200" y="1554480"/>
            <a:ext cx="544068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277"/>
          <p:cNvSpPr/>
          <p:nvPr/>
        </p:nvSpPr>
        <p:spPr>
          <a:xfrm>
            <a:off x="6373368" y="1837944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0" name="icon-278" descr="FaFlas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9098" y="1963674"/>
            <a:ext cx="251460" cy="251460"/>
          </a:xfrm>
          <a:prstGeom prst="rect">
            <a:avLst/>
          </a:prstGeom>
        </p:spPr>
      </p:pic>
      <p:sp>
        <p:nvSpPr>
          <p:cNvPr id="11" name="text-279"/>
          <p:cNvSpPr txBox="1"/>
          <p:nvPr/>
        </p:nvSpPr>
        <p:spPr>
          <a:xfrm>
            <a:off x="7040880" y="1609344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Small Validation Set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notebook reports only 16 images in the validation split, making validation results less reliable.</a:t>
            </a:r>
            <a:endParaRPr lang="en-US" sz="1400" dirty="0"/>
          </a:p>
        </p:txBody>
      </p:sp>
      <p:sp>
        <p:nvSpPr>
          <p:cNvPr id="12" name="card-280"/>
          <p:cNvSpPr/>
          <p:nvPr/>
        </p:nvSpPr>
        <p:spPr>
          <a:xfrm>
            <a:off x="548640" y="2734056"/>
            <a:ext cx="544068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bg-281"/>
          <p:cNvSpPr/>
          <p:nvPr/>
        </p:nvSpPr>
        <p:spPr>
          <a:xfrm>
            <a:off x="749808" y="3017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4" name="icon-282" descr="FaTriangleExclam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" y="3143250"/>
            <a:ext cx="251460" cy="251460"/>
          </a:xfrm>
          <a:prstGeom prst="rect">
            <a:avLst/>
          </a:prstGeom>
        </p:spPr>
      </p:pic>
      <p:sp>
        <p:nvSpPr>
          <p:cNvPr id="15" name="text-283"/>
          <p:cNvSpPr txBox="1"/>
          <p:nvPr/>
        </p:nvSpPr>
        <p:spPr>
          <a:xfrm>
            <a:off x="1417320" y="27889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False-Positive Predictions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recorded test specificity is 66.67%, meaning some normal cases are incorrectly identified as pneumonia.</a:t>
            </a:r>
            <a:endParaRPr lang="en-US" sz="1400" dirty="0"/>
          </a:p>
        </p:txBody>
      </p:sp>
      <p:sp>
        <p:nvSpPr>
          <p:cNvPr id="16" name="card-284"/>
          <p:cNvSpPr/>
          <p:nvPr/>
        </p:nvSpPr>
        <p:spPr>
          <a:xfrm>
            <a:off x="6172200" y="2734056"/>
            <a:ext cx="544068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bg-285"/>
          <p:cNvSpPr/>
          <p:nvPr/>
        </p:nvSpPr>
        <p:spPr>
          <a:xfrm>
            <a:off x="6373368" y="3017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con-286" descr="Fa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9098" y="3143250"/>
            <a:ext cx="251460" cy="251460"/>
          </a:xfrm>
          <a:prstGeom prst="rect">
            <a:avLst/>
          </a:prstGeom>
        </p:spPr>
      </p:pic>
      <p:sp>
        <p:nvSpPr>
          <p:cNvPr id="19" name="text-287"/>
          <p:cNvSpPr txBox="1"/>
          <p:nvPr/>
        </p:nvSpPr>
        <p:spPr>
          <a:xfrm>
            <a:off x="7040880" y="27889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Dataset Dependence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Performance on the available dataset does not guarantee similar performance on images from other hospitals or imaging devices.</a:t>
            </a:r>
            <a:endParaRPr lang="en-US" sz="1400" dirty="0"/>
          </a:p>
        </p:txBody>
      </p:sp>
      <p:sp>
        <p:nvSpPr>
          <p:cNvPr id="20" name="card-288"/>
          <p:cNvSpPr/>
          <p:nvPr/>
        </p:nvSpPr>
        <p:spPr>
          <a:xfrm>
            <a:off x="548640" y="3913632"/>
            <a:ext cx="544068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bg-289"/>
          <p:cNvSpPr/>
          <p:nvPr/>
        </p:nvSpPr>
        <p:spPr>
          <a:xfrm>
            <a:off x="749808" y="419709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con-290" descr="Fa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538" y="4322826"/>
            <a:ext cx="251460" cy="251460"/>
          </a:xfrm>
          <a:prstGeom prst="rect">
            <a:avLst/>
          </a:prstGeom>
        </p:spPr>
      </p:pic>
      <p:sp>
        <p:nvSpPr>
          <p:cNvPr id="23" name="text-291"/>
          <p:cNvSpPr txBox="1"/>
          <p:nvPr/>
        </p:nvSpPr>
        <p:spPr>
          <a:xfrm>
            <a:off x="1417320" y="396849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Image Variability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Differences in brightness, contrast, resolution, and image quality may affect predictions.</a:t>
            </a:r>
            <a:endParaRPr lang="en-US" sz="1400" dirty="0"/>
          </a:p>
        </p:txBody>
      </p:sp>
      <p:sp>
        <p:nvSpPr>
          <p:cNvPr id="24" name="card-292"/>
          <p:cNvSpPr/>
          <p:nvPr/>
        </p:nvSpPr>
        <p:spPr>
          <a:xfrm>
            <a:off x="6172200" y="3913632"/>
            <a:ext cx="544068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bg-293"/>
          <p:cNvSpPr/>
          <p:nvPr/>
        </p:nvSpPr>
        <p:spPr>
          <a:xfrm>
            <a:off x="6373368" y="4197096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con-294" descr="FaSlide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9098" y="4322826"/>
            <a:ext cx="251460" cy="251460"/>
          </a:xfrm>
          <a:prstGeom prst="rect">
            <a:avLst/>
          </a:prstGeom>
        </p:spPr>
      </p:pic>
      <p:sp>
        <p:nvSpPr>
          <p:cNvPr id="27" name="text-295"/>
          <p:cNvSpPr txBox="1"/>
          <p:nvPr/>
        </p:nvSpPr>
        <p:spPr>
          <a:xfrm>
            <a:off x="7040880" y="3968496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Threshold Dependence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predicted class depends on the selected classification threshold of 0.5.</a:t>
            </a:r>
            <a:endParaRPr lang="en-US" sz="1400" dirty="0"/>
          </a:p>
        </p:txBody>
      </p:sp>
      <p:sp>
        <p:nvSpPr>
          <p:cNvPr id="28" name="card-296"/>
          <p:cNvSpPr/>
          <p:nvPr/>
        </p:nvSpPr>
        <p:spPr>
          <a:xfrm>
            <a:off x="548640" y="5093208"/>
            <a:ext cx="544068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bg-297"/>
          <p:cNvSpPr/>
          <p:nvPr/>
        </p:nvSpPr>
        <p:spPr>
          <a:xfrm>
            <a:off x="749808" y="53766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0" name="icon-298" descr="FaPuzzlePiec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538" y="5502402"/>
            <a:ext cx="251460" cy="251460"/>
          </a:xfrm>
          <a:prstGeom prst="rect">
            <a:avLst/>
          </a:prstGeom>
        </p:spPr>
      </p:pic>
      <p:sp>
        <p:nvSpPr>
          <p:cNvPr id="31" name="text-299"/>
          <p:cNvSpPr txBox="1"/>
          <p:nvPr/>
        </p:nvSpPr>
        <p:spPr>
          <a:xfrm>
            <a:off x="1417320" y="514807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Potential Bias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Dataset composition and image acquisition differences may influence the model's learned patterns.</a:t>
            </a:r>
            <a:endParaRPr lang="en-US" sz="1400" dirty="0"/>
          </a:p>
        </p:txBody>
      </p:sp>
      <p:sp>
        <p:nvSpPr>
          <p:cNvPr id="32" name="card-300"/>
          <p:cNvSpPr/>
          <p:nvPr/>
        </p:nvSpPr>
        <p:spPr>
          <a:xfrm>
            <a:off x="6172200" y="5093208"/>
            <a:ext cx="5440680" cy="1069848"/>
          </a:xfrm>
          <a:prstGeom prst="roundRect">
            <a:avLst>
              <a:gd name="adj" fmla="val 102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iconbg-301"/>
          <p:cNvSpPr/>
          <p:nvPr/>
        </p:nvSpPr>
        <p:spPr>
          <a:xfrm>
            <a:off x="6373368" y="5376672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4" name="icon-302" descr="FaUserDocto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9098" y="5502402"/>
            <a:ext cx="251460" cy="251460"/>
          </a:xfrm>
          <a:prstGeom prst="rect">
            <a:avLst/>
          </a:prstGeom>
        </p:spPr>
      </p:pic>
      <p:sp>
        <p:nvSpPr>
          <p:cNvPr id="35" name="text-303"/>
          <p:cNvSpPr txBox="1"/>
          <p:nvPr/>
        </p:nvSpPr>
        <p:spPr>
          <a:xfrm>
            <a:off x="7040880" y="5148072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Need for Expert Review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Predictions must not be used as a substitute for assessment by qualified healthcare professionals.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04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12 · CONCLUSION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card-305"/>
          <p:cNvSpPr/>
          <p:nvPr/>
        </p:nvSpPr>
        <p:spPr>
          <a:xfrm>
            <a:off x="548640" y="1554480"/>
            <a:ext cx="6126480" cy="850392"/>
          </a:xfrm>
          <a:prstGeom prst="roundRect">
            <a:avLst>
              <a:gd name="adj" fmla="val 1290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5" name="iconbg-306"/>
          <p:cNvSpPr/>
          <p:nvPr/>
        </p:nvSpPr>
        <p:spPr>
          <a:xfrm>
            <a:off x="731520" y="1769364"/>
            <a:ext cx="420624" cy="420624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307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1874520"/>
            <a:ext cx="210312" cy="210312"/>
          </a:xfrm>
          <a:prstGeom prst="rect">
            <a:avLst/>
          </a:prstGeom>
        </p:spPr>
      </p:pic>
      <p:sp>
        <p:nvSpPr>
          <p:cNvPr id="7" name="text-308"/>
          <p:cNvSpPr txBox="1"/>
          <p:nvPr/>
        </p:nvSpPr>
        <p:spPr>
          <a:xfrm>
            <a:off x="1371600" y="1600200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Successfully developed a MobileNetV2-based CNN model to classify chest X-rays as NORMAL or PNEUMONIA.</a:t>
            </a:r>
            <a:endParaRPr lang="en-US" sz="1400" dirty="0"/>
          </a:p>
        </p:txBody>
      </p:sp>
      <p:sp>
        <p:nvSpPr>
          <p:cNvPr id="8" name="card-309"/>
          <p:cNvSpPr/>
          <p:nvPr/>
        </p:nvSpPr>
        <p:spPr>
          <a:xfrm>
            <a:off x="548640" y="2496312"/>
            <a:ext cx="6126480" cy="850392"/>
          </a:xfrm>
          <a:prstGeom prst="roundRect">
            <a:avLst>
              <a:gd name="adj" fmla="val 1290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9" name="iconbg-310"/>
          <p:cNvSpPr/>
          <p:nvPr/>
        </p:nvSpPr>
        <p:spPr>
          <a:xfrm>
            <a:off x="731520" y="2711196"/>
            <a:ext cx="420624" cy="420624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0" name="icon-311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2816352"/>
            <a:ext cx="210312" cy="210312"/>
          </a:xfrm>
          <a:prstGeom prst="rect">
            <a:avLst/>
          </a:prstGeom>
        </p:spPr>
      </p:pic>
      <p:sp>
        <p:nvSpPr>
          <p:cNvPr id="11" name="text-312"/>
          <p:cNvSpPr txBox="1"/>
          <p:nvPr/>
        </p:nvSpPr>
        <p:spPr>
          <a:xfrm>
            <a:off x="1371600" y="2542032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Performed data analysis, image preprocessing, augmentation, model training, and evaluation.</a:t>
            </a:r>
            <a:endParaRPr lang="en-US" sz="1400" dirty="0"/>
          </a:p>
        </p:txBody>
      </p:sp>
      <p:sp>
        <p:nvSpPr>
          <p:cNvPr id="12" name="card-313"/>
          <p:cNvSpPr/>
          <p:nvPr/>
        </p:nvSpPr>
        <p:spPr>
          <a:xfrm>
            <a:off x="548640" y="3438144"/>
            <a:ext cx="6126480" cy="850392"/>
          </a:xfrm>
          <a:prstGeom prst="roundRect">
            <a:avLst>
              <a:gd name="adj" fmla="val 1290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13" name="iconbg-314"/>
          <p:cNvSpPr/>
          <p:nvPr/>
        </p:nvSpPr>
        <p:spPr>
          <a:xfrm>
            <a:off x="731520" y="3653028"/>
            <a:ext cx="420624" cy="420624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4" name="icon-315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3758184"/>
            <a:ext cx="210312" cy="210312"/>
          </a:xfrm>
          <a:prstGeom prst="rect">
            <a:avLst/>
          </a:prstGeom>
        </p:spPr>
      </p:pic>
      <p:sp>
        <p:nvSpPr>
          <p:cNvPr id="15" name="text-316"/>
          <p:cNvSpPr txBox="1"/>
          <p:nvPr/>
        </p:nvSpPr>
        <p:spPr>
          <a:xfrm>
            <a:off x="1371600" y="3483864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Achieved 86.06% accuracy, 97.69% recall, and 0.9558 ROC-AUC on the test dataset.</a:t>
            </a:r>
            <a:endParaRPr lang="en-US" sz="1400" dirty="0"/>
          </a:p>
        </p:txBody>
      </p:sp>
      <p:sp>
        <p:nvSpPr>
          <p:cNvPr id="16" name="card-317"/>
          <p:cNvSpPr/>
          <p:nvPr/>
        </p:nvSpPr>
        <p:spPr>
          <a:xfrm>
            <a:off x="548640" y="4379976"/>
            <a:ext cx="6126480" cy="850392"/>
          </a:xfrm>
          <a:prstGeom prst="roundRect">
            <a:avLst>
              <a:gd name="adj" fmla="val 1290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17" name="iconbg-318"/>
          <p:cNvSpPr/>
          <p:nvPr/>
        </p:nvSpPr>
        <p:spPr>
          <a:xfrm>
            <a:off x="731520" y="4594860"/>
            <a:ext cx="420624" cy="420624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8" name="icon-319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4700016"/>
            <a:ext cx="210312" cy="210312"/>
          </a:xfrm>
          <a:prstGeom prst="rect">
            <a:avLst/>
          </a:prstGeom>
        </p:spPr>
      </p:pic>
      <p:sp>
        <p:nvSpPr>
          <p:cNvPr id="19" name="text-320"/>
          <p:cNvSpPr txBox="1"/>
          <p:nvPr/>
        </p:nvSpPr>
        <p:spPr>
          <a:xfrm>
            <a:off x="1371600" y="4425696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Saved the trained model and implemented a reusable prediction system for image classification.</a:t>
            </a:r>
            <a:endParaRPr lang="en-US" sz="1400" dirty="0"/>
          </a:p>
        </p:txBody>
      </p:sp>
      <p:sp>
        <p:nvSpPr>
          <p:cNvPr id="20" name="card-321"/>
          <p:cNvSpPr/>
          <p:nvPr/>
        </p:nvSpPr>
        <p:spPr>
          <a:xfrm>
            <a:off x="548640" y="5321808"/>
            <a:ext cx="6126480" cy="850392"/>
          </a:xfrm>
          <a:prstGeom prst="roundRect">
            <a:avLst>
              <a:gd name="adj" fmla="val 1290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21" name="iconbg-322"/>
          <p:cNvSpPr/>
          <p:nvPr/>
        </p:nvSpPr>
        <p:spPr>
          <a:xfrm>
            <a:off x="731520" y="5536692"/>
            <a:ext cx="420624" cy="420624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2" name="icon-323" descr="Fa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" y="5641848"/>
            <a:ext cx="210312" cy="210312"/>
          </a:xfrm>
          <a:prstGeom prst="rect">
            <a:avLst/>
          </a:prstGeom>
        </p:spPr>
      </p:pic>
      <p:sp>
        <p:nvSpPr>
          <p:cNvPr id="23" name="text-324"/>
          <p:cNvSpPr txBox="1"/>
          <p:nvPr/>
        </p:nvSpPr>
        <p:spPr>
          <a:xfrm>
            <a:off x="1371600" y="5367528"/>
            <a:ext cx="51206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Achieved the main project objectives; further validation is required due to false positives and the need for clinical testing.</a:t>
            </a:r>
            <a:endParaRPr lang="en-US" sz="1400" dirty="0"/>
          </a:p>
        </p:txBody>
      </p:sp>
      <p:sp>
        <p:nvSpPr>
          <p:cNvPr id="24" name="text-325"/>
          <p:cNvSpPr txBox="1"/>
          <p:nvPr/>
        </p:nvSpPr>
        <p:spPr>
          <a:xfrm>
            <a:off x="685800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KEY RESULTS</a:t>
            </a:r>
            <a:endParaRPr lang="en-US" sz="1200" dirty="0"/>
          </a:p>
        </p:txBody>
      </p:sp>
      <p:sp>
        <p:nvSpPr>
          <p:cNvPr id="25" name="card-326"/>
          <p:cNvSpPr/>
          <p:nvPr/>
        </p:nvSpPr>
        <p:spPr>
          <a:xfrm>
            <a:off x="6858000" y="1965960"/>
            <a:ext cx="1508760" cy="1965960"/>
          </a:xfrm>
          <a:prstGeom prst="roundRect">
            <a:avLst>
              <a:gd name="adj" fmla="val 727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26" name="text-327"/>
          <p:cNvSpPr txBox="1"/>
          <p:nvPr/>
        </p:nvSpPr>
        <p:spPr>
          <a:xfrm>
            <a:off x="6949440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86.06%</a:t>
            </a:r>
            <a:endParaRPr lang="en-US" sz="2800" dirty="0"/>
          </a:p>
        </p:txBody>
      </p:sp>
      <p:sp>
        <p:nvSpPr>
          <p:cNvPr id="27" name="text-328"/>
          <p:cNvSpPr txBox="1"/>
          <p:nvPr/>
        </p:nvSpPr>
        <p:spPr>
          <a:xfrm>
            <a:off x="6949440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Accuracy</a:t>
            </a:r>
            <a:endParaRPr lang="en-US" sz="1500" dirty="0"/>
          </a:p>
        </p:txBody>
      </p:sp>
      <p:sp>
        <p:nvSpPr>
          <p:cNvPr id="28" name="card-329"/>
          <p:cNvSpPr/>
          <p:nvPr/>
        </p:nvSpPr>
        <p:spPr>
          <a:xfrm>
            <a:off x="8485632" y="1965960"/>
            <a:ext cx="1508760" cy="1965960"/>
          </a:xfrm>
          <a:prstGeom prst="roundRect">
            <a:avLst>
              <a:gd name="adj" fmla="val 727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29" name="text-330"/>
          <p:cNvSpPr txBox="1"/>
          <p:nvPr/>
        </p:nvSpPr>
        <p:spPr>
          <a:xfrm>
            <a:off x="8577072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83.01%</a:t>
            </a:r>
            <a:endParaRPr lang="en-US" sz="2800" dirty="0"/>
          </a:p>
        </p:txBody>
      </p:sp>
      <p:sp>
        <p:nvSpPr>
          <p:cNvPr id="30" name="text-331"/>
          <p:cNvSpPr txBox="1"/>
          <p:nvPr/>
        </p:nvSpPr>
        <p:spPr>
          <a:xfrm>
            <a:off x="8577072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Precision</a:t>
            </a:r>
            <a:endParaRPr lang="en-US" sz="1500" dirty="0"/>
          </a:p>
        </p:txBody>
      </p:sp>
      <p:sp>
        <p:nvSpPr>
          <p:cNvPr id="31" name="card-332"/>
          <p:cNvSpPr/>
          <p:nvPr/>
        </p:nvSpPr>
        <p:spPr>
          <a:xfrm>
            <a:off x="10113264" y="1965960"/>
            <a:ext cx="1508760" cy="1965960"/>
          </a:xfrm>
          <a:prstGeom prst="roundRect">
            <a:avLst>
              <a:gd name="adj" fmla="val 727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32" name="text-333"/>
          <p:cNvSpPr txBox="1"/>
          <p:nvPr/>
        </p:nvSpPr>
        <p:spPr>
          <a:xfrm>
            <a:off x="10204704" y="24231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97.69%</a:t>
            </a:r>
            <a:endParaRPr lang="en-US" sz="2800" dirty="0"/>
          </a:p>
        </p:txBody>
      </p:sp>
      <p:sp>
        <p:nvSpPr>
          <p:cNvPr id="33" name="text-334"/>
          <p:cNvSpPr txBox="1"/>
          <p:nvPr/>
        </p:nvSpPr>
        <p:spPr>
          <a:xfrm>
            <a:off x="10204704" y="315468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Recall</a:t>
            </a:r>
            <a:endParaRPr lang="en-US" sz="1500" dirty="0"/>
          </a:p>
        </p:txBody>
      </p:sp>
      <p:sp>
        <p:nvSpPr>
          <p:cNvPr id="34" name="card-335"/>
          <p:cNvSpPr/>
          <p:nvPr/>
        </p:nvSpPr>
        <p:spPr>
          <a:xfrm>
            <a:off x="6858000" y="4069080"/>
            <a:ext cx="1508760" cy="1965960"/>
          </a:xfrm>
          <a:prstGeom prst="roundRect">
            <a:avLst>
              <a:gd name="adj" fmla="val 727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35" name="text-336"/>
          <p:cNvSpPr txBox="1"/>
          <p:nvPr/>
        </p:nvSpPr>
        <p:spPr>
          <a:xfrm>
            <a:off x="6949440" y="4526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89.75%</a:t>
            </a:r>
            <a:endParaRPr lang="en-US" sz="2800" dirty="0"/>
          </a:p>
        </p:txBody>
      </p:sp>
      <p:sp>
        <p:nvSpPr>
          <p:cNvPr id="36" name="text-337"/>
          <p:cNvSpPr txBox="1"/>
          <p:nvPr/>
        </p:nvSpPr>
        <p:spPr>
          <a:xfrm>
            <a:off x="6949440" y="5257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F1-Score</a:t>
            </a:r>
            <a:endParaRPr lang="en-US" sz="1500" dirty="0"/>
          </a:p>
        </p:txBody>
      </p:sp>
      <p:sp>
        <p:nvSpPr>
          <p:cNvPr id="37" name="card-338"/>
          <p:cNvSpPr/>
          <p:nvPr/>
        </p:nvSpPr>
        <p:spPr>
          <a:xfrm>
            <a:off x="8485632" y="4069080"/>
            <a:ext cx="1508760" cy="1965960"/>
          </a:xfrm>
          <a:prstGeom prst="roundRect">
            <a:avLst>
              <a:gd name="adj" fmla="val 727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38" name="text-339"/>
          <p:cNvSpPr txBox="1"/>
          <p:nvPr/>
        </p:nvSpPr>
        <p:spPr>
          <a:xfrm>
            <a:off x="8577072" y="4526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66.67%</a:t>
            </a:r>
            <a:endParaRPr lang="en-US" sz="2800" dirty="0"/>
          </a:p>
        </p:txBody>
      </p:sp>
      <p:sp>
        <p:nvSpPr>
          <p:cNvPr id="39" name="text-340"/>
          <p:cNvSpPr txBox="1"/>
          <p:nvPr/>
        </p:nvSpPr>
        <p:spPr>
          <a:xfrm>
            <a:off x="8577072" y="5257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Specificity</a:t>
            </a:r>
            <a:endParaRPr lang="en-US" sz="1500" dirty="0"/>
          </a:p>
        </p:txBody>
      </p:sp>
      <p:sp>
        <p:nvSpPr>
          <p:cNvPr id="40" name="card-341"/>
          <p:cNvSpPr/>
          <p:nvPr/>
        </p:nvSpPr>
        <p:spPr>
          <a:xfrm>
            <a:off x="10113264" y="4069080"/>
            <a:ext cx="1508760" cy="1965960"/>
          </a:xfrm>
          <a:prstGeom prst="roundRect">
            <a:avLst>
              <a:gd name="adj" fmla="val 7273"/>
            </a:avLst>
          </a:prstGeom>
          <a:solidFill>
            <a:srgbClr val="163A55"/>
          </a:solidFill>
          <a:ln w="12700">
            <a:solidFill>
              <a:srgbClr val="163A55"/>
            </a:solidFill>
            <a:prstDash val="solid"/>
          </a:ln>
        </p:spPr>
      </p:sp>
      <p:sp>
        <p:nvSpPr>
          <p:cNvPr id="41" name="text-342"/>
          <p:cNvSpPr txBox="1"/>
          <p:nvPr/>
        </p:nvSpPr>
        <p:spPr>
          <a:xfrm>
            <a:off x="10204704" y="4526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0.9558</a:t>
            </a:r>
            <a:endParaRPr lang="en-US" sz="2800" dirty="0"/>
          </a:p>
        </p:txBody>
      </p:sp>
      <p:sp>
        <p:nvSpPr>
          <p:cNvPr id="42" name="text-343"/>
          <p:cNvSpPr txBox="1"/>
          <p:nvPr/>
        </p:nvSpPr>
        <p:spPr>
          <a:xfrm>
            <a:off x="10204704" y="52578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ROC-AUC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6C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44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13 · FUTURE SCOPE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Future Scope</a:t>
            </a:r>
            <a:endParaRPr lang="en-US" sz="3600" dirty="0"/>
          </a:p>
        </p:txBody>
      </p:sp>
      <p:sp>
        <p:nvSpPr>
          <p:cNvPr id="4" name="card-345"/>
          <p:cNvSpPr/>
          <p:nvPr/>
        </p:nvSpPr>
        <p:spPr>
          <a:xfrm>
            <a:off x="548640" y="1600200"/>
            <a:ext cx="2094525" cy="4526280"/>
          </a:xfrm>
          <a:prstGeom prst="roundRect">
            <a:avLst>
              <a:gd name="adj" fmla="val 52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346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347" descr="Fa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2034540"/>
            <a:ext cx="320040" cy="320040"/>
          </a:xfrm>
          <a:prstGeom prst="rect">
            <a:avLst/>
          </a:prstGeom>
        </p:spPr>
      </p:pic>
      <p:sp>
        <p:nvSpPr>
          <p:cNvPr id="7" name="text-348"/>
          <p:cNvSpPr txBox="1"/>
          <p:nvPr/>
        </p:nvSpPr>
        <p:spPr>
          <a:xfrm>
            <a:off x="1774485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-349"/>
          <p:cNvSpPr txBox="1"/>
          <p:nvPr/>
        </p:nvSpPr>
        <p:spPr>
          <a:xfrm>
            <a:off x="777240" y="2788920"/>
            <a:ext cx="16373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Expand Dataset</a:t>
            </a:r>
            <a:endParaRPr lang="en-US" sz="1900" dirty="0"/>
          </a:p>
        </p:txBody>
      </p:sp>
      <p:sp>
        <p:nvSpPr>
          <p:cNvPr id="9" name="text-350"/>
          <p:cNvSpPr txBox="1"/>
          <p:nvPr/>
        </p:nvSpPr>
        <p:spPr>
          <a:xfrm>
            <a:off x="777240" y="3611880"/>
            <a:ext cx="163732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larger and more diverse chest X-ray datasets.</a:t>
            </a:r>
            <a:endParaRPr lang="en-US" sz="1400" dirty="0"/>
          </a:p>
        </p:txBody>
      </p:sp>
      <p:sp>
        <p:nvSpPr>
          <p:cNvPr id="10" name="card-351"/>
          <p:cNvSpPr/>
          <p:nvPr/>
        </p:nvSpPr>
        <p:spPr>
          <a:xfrm>
            <a:off x="2798613" y="1600200"/>
            <a:ext cx="2094525" cy="4526280"/>
          </a:xfrm>
          <a:prstGeom prst="roundRect">
            <a:avLst>
              <a:gd name="adj" fmla="val 52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bg-352"/>
          <p:cNvSpPr/>
          <p:nvPr/>
        </p:nvSpPr>
        <p:spPr>
          <a:xfrm>
            <a:off x="3027213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2" name="icon-353" descr="FaArrowTrendU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233" y="2034540"/>
            <a:ext cx="320040" cy="320040"/>
          </a:xfrm>
          <a:prstGeom prst="rect">
            <a:avLst/>
          </a:prstGeom>
        </p:spPr>
      </p:pic>
      <p:sp>
        <p:nvSpPr>
          <p:cNvPr id="13" name="text-354"/>
          <p:cNvSpPr txBox="1"/>
          <p:nvPr/>
        </p:nvSpPr>
        <p:spPr>
          <a:xfrm>
            <a:off x="4024457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-355"/>
          <p:cNvSpPr txBox="1"/>
          <p:nvPr/>
        </p:nvSpPr>
        <p:spPr>
          <a:xfrm>
            <a:off x="3027213" y="2788920"/>
            <a:ext cx="16373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Improve Accuracy</a:t>
            </a:r>
            <a:endParaRPr lang="en-US" sz="1900" dirty="0"/>
          </a:p>
        </p:txBody>
      </p:sp>
      <p:sp>
        <p:nvSpPr>
          <p:cNvPr id="15" name="text-356"/>
          <p:cNvSpPr txBox="1"/>
          <p:nvPr/>
        </p:nvSpPr>
        <p:spPr>
          <a:xfrm>
            <a:off x="3027213" y="3611880"/>
            <a:ext cx="163732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Address class imbalance and optimize the classification threshold.</a:t>
            </a:r>
            <a:endParaRPr lang="en-US" sz="1400" dirty="0"/>
          </a:p>
        </p:txBody>
      </p:sp>
      <p:sp>
        <p:nvSpPr>
          <p:cNvPr id="16" name="card-357"/>
          <p:cNvSpPr/>
          <p:nvPr/>
        </p:nvSpPr>
        <p:spPr>
          <a:xfrm>
            <a:off x="5048585" y="1600200"/>
            <a:ext cx="2094525" cy="4526280"/>
          </a:xfrm>
          <a:prstGeom prst="roundRect">
            <a:avLst>
              <a:gd name="adj" fmla="val 52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bg-358"/>
          <p:cNvSpPr/>
          <p:nvPr/>
        </p:nvSpPr>
        <p:spPr>
          <a:xfrm>
            <a:off x="5277185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8" name="icon-359" descr="FaSitem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7205" y="2034540"/>
            <a:ext cx="320040" cy="320040"/>
          </a:xfrm>
          <a:prstGeom prst="rect">
            <a:avLst/>
          </a:prstGeom>
        </p:spPr>
      </p:pic>
      <p:sp>
        <p:nvSpPr>
          <p:cNvPr id="19" name="text-360"/>
          <p:cNvSpPr txBox="1"/>
          <p:nvPr/>
        </p:nvSpPr>
        <p:spPr>
          <a:xfrm>
            <a:off x="627443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-361"/>
          <p:cNvSpPr txBox="1"/>
          <p:nvPr/>
        </p:nvSpPr>
        <p:spPr>
          <a:xfrm>
            <a:off x="5277185" y="2788920"/>
            <a:ext cx="16373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Explore Models</a:t>
            </a:r>
            <a:endParaRPr lang="en-US" sz="1900" dirty="0"/>
          </a:p>
        </p:txBody>
      </p:sp>
      <p:sp>
        <p:nvSpPr>
          <p:cNvPr id="21" name="text-362"/>
          <p:cNvSpPr txBox="1"/>
          <p:nvPr/>
        </p:nvSpPr>
        <p:spPr>
          <a:xfrm>
            <a:off x="5277185" y="3611880"/>
            <a:ext cx="163732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Compare MobileNetV2 with ResNet and EfficientNet.</a:t>
            </a:r>
            <a:endParaRPr lang="en-US" sz="1400" dirty="0"/>
          </a:p>
        </p:txBody>
      </p:sp>
      <p:sp>
        <p:nvSpPr>
          <p:cNvPr id="22" name="card-363"/>
          <p:cNvSpPr/>
          <p:nvPr/>
        </p:nvSpPr>
        <p:spPr>
          <a:xfrm>
            <a:off x="7298558" y="1600200"/>
            <a:ext cx="2094525" cy="4526280"/>
          </a:xfrm>
          <a:prstGeom prst="roundRect">
            <a:avLst>
              <a:gd name="adj" fmla="val 52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onbg-364"/>
          <p:cNvSpPr/>
          <p:nvPr/>
        </p:nvSpPr>
        <p:spPr>
          <a:xfrm>
            <a:off x="7527158" y="1874520"/>
            <a:ext cx="640080" cy="64008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4" name="icon-365" descr="FaWandMagicSparkl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7178" y="2034540"/>
            <a:ext cx="320040" cy="320040"/>
          </a:xfrm>
          <a:prstGeom prst="rect">
            <a:avLst/>
          </a:prstGeom>
        </p:spPr>
      </p:pic>
      <p:sp>
        <p:nvSpPr>
          <p:cNvPr id="25" name="text-366"/>
          <p:cNvSpPr txBox="1"/>
          <p:nvPr/>
        </p:nvSpPr>
        <p:spPr>
          <a:xfrm>
            <a:off x="8524403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-367"/>
          <p:cNvSpPr txBox="1"/>
          <p:nvPr/>
        </p:nvSpPr>
        <p:spPr>
          <a:xfrm>
            <a:off x="7527158" y="2788920"/>
            <a:ext cx="16373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Enhance Usability</a:t>
            </a:r>
            <a:endParaRPr lang="en-US" sz="1900" dirty="0"/>
          </a:p>
        </p:txBody>
      </p:sp>
      <p:sp>
        <p:nvSpPr>
          <p:cNvPr id="27" name="text-368"/>
          <p:cNvSpPr txBox="1"/>
          <p:nvPr/>
        </p:nvSpPr>
        <p:spPr>
          <a:xfrm>
            <a:off x="7527158" y="3611880"/>
            <a:ext cx="163732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Develop a user-friendly interface with prediction visualization using Grad-CAM.</a:t>
            </a:r>
            <a:endParaRPr lang="en-US" sz="1400" dirty="0"/>
          </a:p>
        </p:txBody>
      </p:sp>
      <p:sp>
        <p:nvSpPr>
          <p:cNvPr id="28" name="card-369"/>
          <p:cNvSpPr/>
          <p:nvPr/>
        </p:nvSpPr>
        <p:spPr>
          <a:xfrm>
            <a:off x="9548531" y="1600200"/>
            <a:ext cx="2094525" cy="4526280"/>
          </a:xfrm>
          <a:prstGeom prst="roundRect">
            <a:avLst>
              <a:gd name="adj" fmla="val 5239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29" name="iconbg-370"/>
          <p:cNvSpPr/>
          <p:nvPr/>
        </p:nvSpPr>
        <p:spPr>
          <a:xfrm>
            <a:off x="9777131" y="1874520"/>
            <a:ext cx="640080" cy="640080"/>
          </a:xfrm>
          <a:prstGeom prst="ellipse">
            <a:avLst/>
          </a:prstGeom>
          <a:solidFill>
            <a:srgbClr val="33D6EA"/>
          </a:solidFill>
          <a:ln w="12700">
            <a:solidFill>
              <a:srgbClr val="33D6EA"/>
            </a:solidFill>
            <a:prstDash val="solid"/>
          </a:ln>
        </p:spPr>
      </p:sp>
      <p:pic>
        <p:nvPicPr>
          <p:cNvPr id="30" name="icon-371" descr="FaHospit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7151" y="2034540"/>
            <a:ext cx="320040" cy="320040"/>
          </a:xfrm>
          <a:prstGeom prst="rect">
            <a:avLst/>
          </a:prstGeom>
        </p:spPr>
      </p:pic>
      <p:sp>
        <p:nvSpPr>
          <p:cNvPr id="31" name="text-372"/>
          <p:cNvSpPr txBox="1"/>
          <p:nvPr/>
        </p:nvSpPr>
        <p:spPr>
          <a:xfrm>
            <a:off x="10774375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2400" dirty="0"/>
          </a:p>
        </p:txBody>
      </p:sp>
      <p:sp>
        <p:nvSpPr>
          <p:cNvPr id="32" name="text-373"/>
          <p:cNvSpPr txBox="1"/>
          <p:nvPr/>
        </p:nvSpPr>
        <p:spPr>
          <a:xfrm>
            <a:off x="9777131" y="2788920"/>
            <a:ext cx="16373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Clinical Validation</a:t>
            </a:r>
            <a:endParaRPr lang="en-US" sz="1900" dirty="0"/>
          </a:p>
        </p:txBody>
      </p:sp>
      <p:sp>
        <p:nvSpPr>
          <p:cNvPr id="33" name="text-374"/>
          <p:cNvSpPr txBox="1"/>
          <p:nvPr/>
        </p:nvSpPr>
        <p:spPr>
          <a:xfrm>
            <a:off x="9777131" y="3611880"/>
            <a:ext cx="163732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Test the model on external datasets and conduct expert evaluation before real-world deployment.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75"/>
          <p:cNvSpPr txBox="1"/>
          <p:nvPr/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14 · REFERENCES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References</a:t>
            </a:r>
            <a:endParaRPr lang="en-US" sz="3600" dirty="0"/>
          </a:p>
        </p:txBody>
      </p:sp>
      <p:sp>
        <p:nvSpPr>
          <p:cNvPr id="4" name="card-376"/>
          <p:cNvSpPr/>
          <p:nvPr/>
        </p:nvSpPr>
        <p:spPr>
          <a:xfrm>
            <a:off x="548640" y="1600200"/>
            <a:ext cx="544068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bg-377"/>
          <p:cNvSpPr/>
          <p:nvPr/>
        </p:nvSpPr>
        <p:spPr>
          <a:xfrm>
            <a:off x="749808" y="1860804"/>
            <a:ext cx="502920" cy="50292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6" name="icon-378" descr="Fa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38" y="1986534"/>
            <a:ext cx="251460" cy="251460"/>
          </a:xfrm>
          <a:prstGeom prst="rect">
            <a:avLst/>
          </a:prstGeom>
        </p:spPr>
      </p:pic>
      <p:sp>
        <p:nvSpPr>
          <p:cNvPr id="7" name="text-379"/>
          <p:cNvSpPr txBox="1"/>
          <p:nvPr/>
        </p:nvSpPr>
        <p:spPr>
          <a:xfrm>
            <a:off x="1371600" y="165506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Dataset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Kaggle – Chest X-Ray Images (Pneumonia)</a:t>
            </a:r>
            <a:endParaRPr lang="en-US" sz="1400" dirty="0"/>
          </a:p>
          <a:p>
            <a:pPr marL="0" indent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https://www.kaggle.com/datasets/paultimothymooney/chest-xray-pneumonia</a:t>
            </a:r>
            <a:endParaRPr lang="en-US" sz="1400" dirty="0"/>
          </a:p>
        </p:txBody>
      </p:sp>
      <p:sp>
        <p:nvSpPr>
          <p:cNvPr id="8" name="card-380"/>
          <p:cNvSpPr/>
          <p:nvPr/>
        </p:nvSpPr>
        <p:spPr>
          <a:xfrm>
            <a:off x="548640" y="2767889"/>
            <a:ext cx="544068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bg-381"/>
          <p:cNvSpPr/>
          <p:nvPr/>
        </p:nvSpPr>
        <p:spPr>
          <a:xfrm>
            <a:off x="749808" y="3028493"/>
            <a:ext cx="502920" cy="50292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0" name="icon-382" descr="FaCub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538" y="3154223"/>
            <a:ext cx="251460" cy="251460"/>
          </a:xfrm>
          <a:prstGeom prst="rect">
            <a:avLst/>
          </a:prstGeom>
        </p:spPr>
      </p:pic>
      <p:sp>
        <p:nvSpPr>
          <p:cNvPr id="11" name="text-383"/>
          <p:cNvSpPr txBox="1"/>
          <p:nvPr/>
        </p:nvSpPr>
        <p:spPr>
          <a:xfrm>
            <a:off x="1371600" y="2822753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TensorFlow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Image preprocessing, dataset loading, and model training</a:t>
            </a:r>
            <a:endParaRPr lang="en-US" sz="1400" dirty="0"/>
          </a:p>
          <a:p>
            <a:pPr marL="0" indent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https://www.tensorflow.org/</a:t>
            </a:r>
            <a:endParaRPr lang="en-US" sz="1400" dirty="0"/>
          </a:p>
        </p:txBody>
      </p:sp>
      <p:sp>
        <p:nvSpPr>
          <p:cNvPr id="12" name="card-384"/>
          <p:cNvSpPr/>
          <p:nvPr/>
        </p:nvSpPr>
        <p:spPr>
          <a:xfrm>
            <a:off x="548640" y="3935578"/>
            <a:ext cx="544068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bg-385"/>
          <p:cNvSpPr/>
          <p:nvPr/>
        </p:nvSpPr>
        <p:spPr>
          <a:xfrm>
            <a:off x="749808" y="4196182"/>
            <a:ext cx="502920" cy="50292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4" name="icon-386" descr="FaLayerGrou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538" y="4321912"/>
            <a:ext cx="251460" cy="251460"/>
          </a:xfrm>
          <a:prstGeom prst="rect">
            <a:avLst/>
          </a:prstGeom>
        </p:spPr>
      </p:pic>
      <p:sp>
        <p:nvSpPr>
          <p:cNvPr id="15" name="text-387"/>
          <p:cNvSpPr txBox="1"/>
          <p:nvPr/>
        </p:nvSpPr>
        <p:spPr>
          <a:xfrm>
            <a:off x="1371600" y="399044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Keras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Deep learning, data augmentation, and model implementation</a:t>
            </a:r>
            <a:endParaRPr lang="en-US" sz="1400" dirty="0"/>
          </a:p>
          <a:p>
            <a:pPr marL="0" indent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https://keras.io/</a:t>
            </a:r>
            <a:endParaRPr lang="en-US" sz="1400" dirty="0"/>
          </a:p>
        </p:txBody>
      </p:sp>
      <p:sp>
        <p:nvSpPr>
          <p:cNvPr id="16" name="card-388"/>
          <p:cNvSpPr/>
          <p:nvPr/>
        </p:nvSpPr>
        <p:spPr>
          <a:xfrm>
            <a:off x="548640" y="5103266"/>
            <a:ext cx="544068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onbg-389"/>
          <p:cNvSpPr/>
          <p:nvPr/>
        </p:nvSpPr>
        <p:spPr>
          <a:xfrm>
            <a:off x="749808" y="5363870"/>
            <a:ext cx="502920" cy="50292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18" name="icon-390" descr="FaBrai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538" y="5489600"/>
            <a:ext cx="251460" cy="251460"/>
          </a:xfrm>
          <a:prstGeom prst="rect">
            <a:avLst/>
          </a:prstGeom>
        </p:spPr>
      </p:pic>
      <p:sp>
        <p:nvSpPr>
          <p:cNvPr id="19" name="text-391"/>
          <p:cNvSpPr txBox="1"/>
          <p:nvPr/>
        </p:nvSpPr>
        <p:spPr>
          <a:xfrm>
            <a:off x="1371600" y="515813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MobileNetV2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Pretrained CNN architecture documentation</a:t>
            </a:r>
            <a:endParaRPr lang="en-US" sz="1400" dirty="0"/>
          </a:p>
          <a:p>
            <a:pPr marL="0" indent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https://keras.io/api/applications/mobilenet/</a:t>
            </a:r>
            <a:endParaRPr lang="en-US" sz="1400" dirty="0"/>
          </a:p>
        </p:txBody>
      </p:sp>
      <p:sp>
        <p:nvSpPr>
          <p:cNvPr id="20" name="card-392"/>
          <p:cNvSpPr/>
          <p:nvPr/>
        </p:nvSpPr>
        <p:spPr>
          <a:xfrm>
            <a:off x="6172200" y="1600200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bg-393"/>
          <p:cNvSpPr/>
          <p:nvPr/>
        </p:nvSpPr>
        <p:spPr>
          <a:xfrm>
            <a:off x="6373368" y="2043684"/>
            <a:ext cx="502920" cy="50292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2" name="icon-394" descr="FaChartColum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9098" y="2169414"/>
            <a:ext cx="251460" cy="251460"/>
          </a:xfrm>
          <a:prstGeom prst="rect">
            <a:avLst/>
          </a:prstGeom>
        </p:spPr>
      </p:pic>
      <p:sp>
        <p:nvSpPr>
          <p:cNvPr id="23" name="text-395"/>
          <p:cNvSpPr txBox="1"/>
          <p:nvPr/>
        </p:nvSpPr>
        <p:spPr>
          <a:xfrm>
            <a:off x="6995160" y="1655064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scikit-learn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Classification metrics and model evaluation</a:t>
            </a:r>
            <a:endParaRPr lang="en-US" sz="1400" dirty="0"/>
          </a:p>
          <a:p>
            <a:pPr marL="0" indent="0">
              <a:buNone/>
            </a:pPr>
            <a:r>
              <a:rPr lang="en-US" sz="1100" u="sng" dirty="0">
                <a:solidFill>
                  <a:schemeClr val="accent1"/>
                </a:solidFill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https://scikit-learn.org/stable/</a:t>
            </a:r>
            <a:endParaRPr lang="en-US" sz="1400" dirty="0"/>
          </a:p>
        </p:txBody>
      </p:sp>
      <p:sp>
        <p:nvSpPr>
          <p:cNvPr id="24" name="card-396"/>
          <p:cNvSpPr/>
          <p:nvPr/>
        </p:nvSpPr>
        <p:spPr>
          <a:xfrm>
            <a:off x="6172200" y="3172968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onbg-397"/>
          <p:cNvSpPr/>
          <p:nvPr/>
        </p:nvSpPr>
        <p:spPr>
          <a:xfrm>
            <a:off x="6373368" y="3616452"/>
            <a:ext cx="502920" cy="50292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26" name="icon-398" descr="FaCod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9098" y="3742182"/>
            <a:ext cx="251460" cy="251460"/>
          </a:xfrm>
          <a:prstGeom prst="rect">
            <a:avLst/>
          </a:prstGeom>
        </p:spPr>
      </p:pic>
      <p:sp>
        <p:nvSpPr>
          <p:cNvPr id="27" name="text-399"/>
          <p:cNvSpPr txBox="1"/>
          <p:nvPr/>
        </p:nvSpPr>
        <p:spPr>
          <a:xfrm>
            <a:off x="6995160" y="3227832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Project Source Code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dl_final_project.ipynb</a:t>
            </a:r>
            <a:endParaRPr lang="en-US" sz="1400" dirty="0"/>
          </a:p>
        </p:txBody>
      </p:sp>
      <p:sp>
        <p:nvSpPr>
          <p:cNvPr id="28" name="card-400"/>
          <p:cNvSpPr/>
          <p:nvPr/>
        </p:nvSpPr>
        <p:spPr>
          <a:xfrm>
            <a:off x="6172200" y="4745736"/>
            <a:ext cx="5440680" cy="1389888"/>
          </a:xfrm>
          <a:prstGeom prst="roundRect">
            <a:avLst>
              <a:gd name="adj" fmla="val 78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bg-401"/>
          <p:cNvSpPr/>
          <p:nvPr/>
        </p:nvSpPr>
        <p:spPr>
          <a:xfrm>
            <a:off x="6373368" y="5189220"/>
            <a:ext cx="502920" cy="502920"/>
          </a:xfrm>
          <a:prstGeom prst="ellipse">
            <a:avLst/>
          </a:prstGeom>
          <a:solidFill>
            <a:srgbClr val="0A8F9E"/>
          </a:solidFill>
          <a:ln w="12700">
            <a:solidFill>
              <a:srgbClr val="0A8F9E"/>
            </a:solidFill>
            <a:prstDash val="solid"/>
          </a:ln>
        </p:spPr>
      </p:sp>
      <p:pic>
        <p:nvPicPr>
          <p:cNvPr id="30" name="icon-402" descr="FaGear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9098" y="5314950"/>
            <a:ext cx="251460" cy="251460"/>
          </a:xfrm>
          <a:prstGeom prst="rect">
            <a:avLst/>
          </a:prstGeom>
        </p:spPr>
      </p:pic>
      <p:sp>
        <p:nvSpPr>
          <p:cNvPr id="31" name="text-403"/>
          <p:cNvSpPr txBox="1"/>
          <p:nvPr/>
        </p:nvSpPr>
        <p:spPr>
          <a:xfrm>
            <a:off x="6995160" y="4800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Development Tools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Python, Google Colab, NumPy, and Matplotlib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ring-404"/>
          <p:cNvSpPr/>
          <p:nvPr/>
        </p:nvSpPr>
        <p:spPr>
          <a:xfrm>
            <a:off x="4041648" y="228600"/>
            <a:ext cx="4114800" cy="4114800"/>
          </a:xfrm>
          <a:prstGeom prst="ellipse">
            <a:avLst/>
          </a:prstGeom>
          <a:ln w="15875">
            <a:solidFill>
              <a:schemeClr val="accent1">
                <a:alpha val="80000"/>
              </a:schemeClr>
            </a:solidFill>
            <a:prstDash val="solid"/>
          </a:ln>
        </p:spPr>
      </p:sp>
      <p:sp>
        <p:nvSpPr>
          <p:cNvPr id="4" name="ring-405"/>
          <p:cNvSpPr/>
          <p:nvPr/>
        </p:nvSpPr>
        <p:spPr>
          <a:xfrm>
            <a:off x="4590288" y="777240"/>
            <a:ext cx="3017520" cy="3017520"/>
          </a:xfrm>
          <a:prstGeom prst="ellipse">
            <a:avLst/>
          </a:prstGeom>
          <a:ln w="1587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5" name="ring-406"/>
          <p:cNvSpPr/>
          <p:nvPr/>
        </p:nvSpPr>
        <p:spPr>
          <a:xfrm>
            <a:off x="5138928" y="1325880"/>
            <a:ext cx="1920240" cy="1920240"/>
          </a:xfrm>
          <a:prstGeom prst="ellipse">
            <a:avLst/>
          </a:prstGeom>
          <a:ln w="1587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6" name="end-disc"/>
          <p:cNvSpPr/>
          <p:nvPr/>
        </p:nvSpPr>
        <p:spPr>
          <a:xfrm>
            <a:off x="5367528" y="1554480"/>
            <a:ext cx="1463040" cy="14630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end-icon" descr="Lu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1892808"/>
            <a:ext cx="786384" cy="786384"/>
          </a:xfrm>
          <a:prstGeom prst="rect">
            <a:avLst/>
          </a:prstGeom>
        </p:spPr>
      </p:pic>
      <p:sp>
        <p:nvSpPr>
          <p:cNvPr id="8" name="text-407"/>
          <p:cNvSpPr txBox="1"/>
          <p:nvPr/>
        </p:nvSpPr>
        <p:spPr>
          <a:xfrm>
            <a:off x="0" y="47548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9" name="text-408"/>
          <p:cNvSpPr txBox="1"/>
          <p:nvPr/>
        </p:nvSpPr>
        <p:spPr>
          <a:xfrm>
            <a:off x="0" y="5623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2"/>
                </a:solidFill>
              </a:rPr>
              <a:t>Pneumonia Detection from Chest X-Ray Images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9FB6C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inical Teal">
  <a:themeElements>
    <a:clrScheme name="Clinical Teal">
      <a:dk1>
        <a:srgbClr val="0B1F33"/>
      </a:dk1>
      <a:lt1>
        <a:srgbClr val="FFFFFF"/>
      </a:lt1>
      <a:dk2>
        <a:srgbClr val="163A55"/>
      </a:dk2>
      <a:lt2>
        <a:srgbClr val="EDF4F7"/>
      </a:lt2>
      <a:accent1>
        <a:srgbClr val="0A8F9E"/>
      </a:accent1>
      <a:accent2>
        <a:srgbClr val="33D6EA"/>
      </a:accent2>
      <a:accent3>
        <a:srgbClr val="F59E0B"/>
      </a:accent3>
      <a:accent4>
        <a:srgbClr val="10B981"/>
      </a:accent4>
      <a:accent5>
        <a:srgbClr val="E5484D"/>
      </a:accent5>
      <a:accent6>
        <a:srgbClr val="5B6B7B"/>
      </a:accent6>
      <a:hlink>
        <a:srgbClr val="0A8F9E"/>
      </a:hlink>
      <a:folHlink>
        <a:srgbClr val="5B6B7B"/>
      </a:folHlink>
    </a:clrScheme>
    <a:fontScheme name="Clinical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1567</Words>
  <Application>Microsoft Office PowerPoint</Application>
  <PresentationFormat>Widescreen</PresentationFormat>
  <Paragraphs>284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Clinical Teal</vt:lpstr>
      <vt:lpstr>Pneumonia Detection from Chest X-Ray Images</vt:lpstr>
      <vt:lpstr>Introduction</vt:lpstr>
      <vt:lpstr>Problem Statement</vt:lpstr>
      <vt:lpstr>Motivation</vt:lpstr>
      <vt:lpstr>Objectives</vt:lpstr>
      <vt:lpstr>Scope of the Project</vt:lpstr>
      <vt:lpstr>Methodology</vt:lpstr>
      <vt:lpstr>Methodology</vt:lpstr>
      <vt:lpstr>Working Principle</vt:lpstr>
      <vt:lpstr>Working Principle</vt:lpstr>
      <vt:lpstr>Applications</vt:lpstr>
      <vt:lpstr>Advantages</vt:lpstr>
      <vt:lpstr>Limitations</vt:lpstr>
      <vt:lpstr>Conclusion</vt:lpstr>
      <vt:lpstr>Future Scope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 from Chest X-Ray Images</dc:title>
  <dc:subject>PptxGenJS Presentation</dc:subject>
  <dc:creator>PptxGenJS</dc:creator>
  <cp:lastModifiedBy>Kaiwalya Raut</cp:lastModifiedBy>
  <cp:revision>1</cp:revision>
  <dcterms:created xsi:type="dcterms:W3CDTF">2026-10-29T09:36:01Z</dcterms:created>
  <dcterms:modified xsi:type="dcterms:W3CDTF">2026-10-29T09:40:32Z</dcterms:modified>
</cp:coreProperties>
</file>